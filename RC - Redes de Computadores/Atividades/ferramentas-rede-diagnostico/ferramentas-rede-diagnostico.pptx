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9" r:id="rId8"/>
    <p:sldId id="270" r:id="rId9"/>
    <p:sldId id="262" r:id="rId10"/>
    <p:sldId id="266" r:id="rId11"/>
    <p:sldId id="263" r:id="rId12"/>
    <p:sldId id="264" r:id="rId13"/>
    <p:sldId id="267" r:id="rId14"/>
    <p:sldId id="265"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444B"/>
    <a:srgbClr val="DA5552"/>
    <a:srgbClr val="0A0A0A"/>
    <a:srgbClr val="6BA368"/>
    <a:srgbClr val="9CFC97"/>
    <a:srgbClr val="216F9E"/>
    <a:srgbClr val="2274A5"/>
    <a:srgbClr val="0D3049"/>
    <a:srgbClr val="0B0A07"/>
    <a:srgbClr val="A188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44C91D-BC9B-6306-46AB-B522128119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39C2618-DBB8-5C8B-BFEE-AACDA333D8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1D83AE-21DF-4A82-A98E-8A3E1B2FADE5}" type="datetimeFigureOut">
              <a:rPr lang="en-GB" smtClean="0"/>
              <a:t>15/04/2026</a:t>
            </a:fld>
            <a:endParaRPr lang="en-GB"/>
          </a:p>
        </p:txBody>
      </p:sp>
      <p:sp>
        <p:nvSpPr>
          <p:cNvPr id="4" name="Footer Placeholder 3">
            <a:extLst>
              <a:ext uri="{FF2B5EF4-FFF2-40B4-BE49-F238E27FC236}">
                <a16:creationId xmlns:a16="http://schemas.microsoft.com/office/drawing/2014/main" id="{4B874912-01E6-F9F1-963E-7B5C27316F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17D881C-F075-A585-E3B7-D4FD18448B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F1A0E2-C4A6-45DE-87DE-E588D33A6346}" type="slidenum">
              <a:rPr lang="en-GB" smtClean="0"/>
              <a:t>‹#›</a:t>
            </a:fld>
            <a:endParaRPr lang="en-GB"/>
          </a:p>
        </p:txBody>
      </p:sp>
    </p:spTree>
    <p:extLst>
      <p:ext uri="{BB962C8B-B14F-4D97-AF65-F5344CB8AC3E}">
        <p14:creationId xmlns:p14="http://schemas.microsoft.com/office/powerpoint/2010/main" val="425335733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634D4B-C2F7-44FF-8D97-AF02DAB2573C}" type="datetimeFigureOut">
              <a:rPr lang="pt-BR" smtClean="0"/>
              <a:t>15/04/2026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6A1825-54E0-466E-84B4-0E63A9B43B49}" type="slidenum">
              <a:rPr lang="pt-BR" smtClean="0"/>
              <a:t>‹#›</a:t>
            </a:fld>
            <a:endParaRPr lang="pt-BR"/>
          </a:p>
        </p:txBody>
      </p:sp>
    </p:spTree>
    <p:extLst>
      <p:ext uri="{BB962C8B-B14F-4D97-AF65-F5344CB8AC3E}">
        <p14:creationId xmlns:p14="http://schemas.microsoft.com/office/powerpoint/2010/main" val="367102559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GB"/>
          </a:p>
        </p:txBody>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722622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DEE4B56-016D-46A7-90D6-C16738C80965}" type="datetime1">
              <a:rPr lang="pt-BR" smtClean="0"/>
              <a:t>15/04/2026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9395196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C0F5C01-4803-4A5E-AC52-C629F472DDC2}" type="datetime1">
              <a:rPr lang="pt-BR" smtClean="0"/>
              <a:t>15/04/2026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5265660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0E70BE2-8E6F-438D-9354-2F8D1908ECAD}" type="datetime1">
              <a:rPr lang="pt-BR" smtClean="0"/>
              <a:t>15/04/2026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40881964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C696CE9C-182E-41D8-B405-B30EC453EB97}" type="datetime1">
              <a:rPr lang="pt-BR" smtClean="0"/>
              <a:t>15/04/2026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6769108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9553E71B-F088-4AF0-9EF3-8253AB4B01D1}" type="datetime1">
              <a:rPr lang="pt-BR" smtClean="0"/>
              <a:t>15/04/2026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5551636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998EDC13-66E5-4EBC-B870-4E94BB984392}" type="datetime1">
              <a:rPr lang="pt-BR" smtClean="0"/>
              <a:t>15/04/2026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12696907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C831D0-185A-4B5E-8B4C-DA030BF2EBFA}" type="datetime1">
              <a:rPr lang="pt-BR" smtClean="0"/>
              <a:t>15/04/2026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15971959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67507104-0113-40BE-B089-28AFA1081BDE}" type="datetime1">
              <a:rPr lang="pt-BR" smtClean="0"/>
              <a:t>15/04/2026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237412122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FD99901-2CC7-4EBD-8AD2-EA96FCC3F8C7}" type="datetime1">
              <a:rPr lang="pt-BR" smtClean="0"/>
              <a:t>15/04/2026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0301922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2B824502-2C2E-4EC0-B348-CCE68E7CD326}" type="datetime1">
              <a:rPr lang="pt-BR" smtClean="0"/>
              <a:t>15/04/2026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8787182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9B0444E-B3C3-4463-AC3C-E554DCD39288}" type="datetime1">
              <a:rPr lang="pt-BR" smtClean="0"/>
              <a:t>15/04/2026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A7B95D12-C7D5-4596-9562-9C43769A7482}" type="slidenum">
              <a:rPr lang="pt-BR" smtClean="0"/>
              <a:t>‹#›</a:t>
            </a:fld>
            <a:endParaRPr lang="pt-BR"/>
          </a:p>
        </p:txBody>
      </p:sp>
    </p:spTree>
    <p:extLst>
      <p:ext uri="{BB962C8B-B14F-4D97-AF65-F5344CB8AC3E}">
        <p14:creationId xmlns:p14="http://schemas.microsoft.com/office/powerpoint/2010/main" val="330636471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78E05267-F4E0-4313-81CC-143B38BAA39B}" type="datetime1">
              <a:rPr lang="pt-BR" smtClean="0"/>
              <a:t>15/04/2026</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A7B95D12-C7D5-4596-9562-9C43769A7482}" type="slidenum">
              <a:rPr lang="pt-BR" smtClean="0"/>
              <a:t>‹#›</a:t>
            </a:fld>
            <a:endParaRPr lang="pt-BR"/>
          </a:p>
        </p:txBody>
      </p:sp>
    </p:spTree>
    <p:extLst>
      <p:ext uri="{BB962C8B-B14F-4D97-AF65-F5344CB8AC3E}">
        <p14:creationId xmlns:p14="http://schemas.microsoft.com/office/powerpoint/2010/main" val="459252255"/>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00FFFB-A4F2-432F-1B4A-3AC8C44B7F67}"/>
              </a:ext>
            </a:extLst>
          </p:cNvPr>
          <p:cNvSpPr>
            <a:spLocks noGrp="1"/>
          </p:cNvSpPr>
          <p:nvPr>
            <p:ph type="ctrTitle"/>
          </p:nvPr>
        </p:nvSpPr>
        <p:spPr>
          <a:xfrm>
            <a:off x="0" y="2023671"/>
            <a:ext cx="12192000" cy="1486291"/>
          </a:xfrm>
          <a:solidFill>
            <a:schemeClr val="tx2">
              <a:lumMod val="10000"/>
            </a:schemeClr>
          </a:solidFill>
          <a:ln>
            <a:noFill/>
          </a:ln>
          <a:effectLst>
            <a:outerShdw blurRad="50800" dist="635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anchor="ctr">
            <a:normAutofit/>
          </a:bodyPr>
          <a:lstStyle/>
          <a:p>
            <a:r>
              <a:rPr lang="pt-BR" sz="3600" b="1"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Ferramentas de Rede do Sistema Operacional</a:t>
            </a:r>
            <a:br>
              <a:rPr lang="pt-BR" sz="3600" b="1"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br>
            <a:r>
              <a:rPr lang="pt-BR" sz="3600" b="1" dirty="0">
                <a:ln w="0"/>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Ferramentas de Diagnóstico de Rede</a:t>
            </a:r>
          </a:p>
        </p:txBody>
      </p:sp>
      <p:sp>
        <p:nvSpPr>
          <p:cNvPr id="3" name="Subtítulo 2">
            <a:extLst>
              <a:ext uri="{FF2B5EF4-FFF2-40B4-BE49-F238E27FC236}">
                <a16:creationId xmlns:a16="http://schemas.microsoft.com/office/drawing/2014/main" id="{D3E39902-C914-5BC3-5A37-B248422A1745}"/>
              </a:ext>
            </a:extLst>
          </p:cNvPr>
          <p:cNvSpPr>
            <a:spLocks noGrp="1"/>
          </p:cNvSpPr>
          <p:nvPr>
            <p:ph type="subTitle" idx="1"/>
          </p:nvPr>
        </p:nvSpPr>
        <p:spPr>
          <a:xfrm>
            <a:off x="0" y="3602038"/>
            <a:ext cx="12192000" cy="460296"/>
          </a:xfrm>
          <a:solidFill>
            <a:schemeClr val="tx2">
              <a:lumMod val="10000"/>
            </a:schemeClr>
          </a:solidFill>
          <a:effectLst>
            <a:outerShdw blurRad="50800" dist="63500" dir="2700000" algn="tl" rotWithShape="0">
              <a:prstClr val="black">
                <a:alpha val="40000"/>
              </a:prstClr>
            </a:outerShdw>
          </a:effectLst>
        </p:spPr>
        <p:txBody>
          <a:bodyPr anchor="ctr">
            <a:normAutofit/>
          </a:bodyPr>
          <a:lstStyle/>
          <a:p>
            <a:r>
              <a:rPr lang="pt-BR" dirty="0">
                <a:latin typeface="Arial" panose="020B0604020202020204" pitchFamily="34" charset="0"/>
                <a:cs typeface="Arial" panose="020B0604020202020204" pitchFamily="34" charset="0"/>
              </a:rPr>
              <a:t>Ferramentas, como diagnosticar e metodologia.</a:t>
            </a:r>
          </a:p>
        </p:txBody>
      </p:sp>
    </p:spTree>
    <p:extLst>
      <p:ext uri="{BB962C8B-B14F-4D97-AF65-F5344CB8AC3E}">
        <p14:creationId xmlns:p14="http://schemas.microsoft.com/office/powerpoint/2010/main" val="26619645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800870-DBE4-B02C-9DF7-A9FFFE02A4B6}"/>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Problemas comuns de Rede</a:t>
            </a:r>
          </a:p>
        </p:txBody>
      </p:sp>
      <p:sp>
        <p:nvSpPr>
          <p:cNvPr id="3" name="Espaço Reservado para Conteúdo 2">
            <a:extLst>
              <a:ext uri="{FF2B5EF4-FFF2-40B4-BE49-F238E27FC236}">
                <a16:creationId xmlns:a16="http://schemas.microsoft.com/office/drawing/2014/main" id="{2FE8BD1C-4EBF-E958-E997-5468362FA9BD}"/>
              </a:ext>
            </a:extLst>
          </p:cNvPr>
          <p:cNvSpPr>
            <a:spLocks noGrp="1"/>
          </p:cNvSpPr>
          <p:nvPr>
            <p:ph sz="half" idx="1"/>
          </p:nvPr>
        </p:nvSpPr>
        <p:spPr>
          <a:xfrm>
            <a:off x="609600" y="2089194"/>
            <a:ext cx="5181600" cy="246761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Problemas de Conexão</a:t>
            </a:r>
          </a:p>
          <a:p>
            <a:r>
              <a:rPr lang="pt-BR" sz="1600" dirty="0">
                <a:latin typeface="Arial" panose="020B0604020202020204" pitchFamily="34" charset="0"/>
                <a:cs typeface="Arial" panose="020B0604020202020204" pitchFamily="34" charset="0"/>
              </a:rPr>
              <a:t>Tempo de conexão esgotado</a:t>
            </a:r>
          </a:p>
          <a:p>
            <a:r>
              <a:rPr lang="pt-BR" sz="1600" dirty="0">
                <a:latin typeface="Arial" panose="020B0604020202020204" pitchFamily="34" charset="0"/>
                <a:cs typeface="Arial" panose="020B0604020202020204" pitchFamily="34" charset="0"/>
              </a:rPr>
              <a:t>Conectividade intermitente</a:t>
            </a:r>
          </a:p>
          <a:p>
            <a:r>
              <a:rPr lang="pt-BR" sz="1600" dirty="0">
                <a:latin typeface="Arial" panose="020B0604020202020204" pitchFamily="34" charset="0"/>
                <a:cs typeface="Arial" panose="020B0604020202020204" pitchFamily="34" charset="0"/>
              </a:rPr>
              <a:t>Falhas na resolução de DNS</a:t>
            </a:r>
          </a:p>
          <a:p>
            <a:r>
              <a:rPr lang="pt-BR" sz="1600" dirty="0">
                <a:latin typeface="Arial" panose="020B0604020202020204" pitchFamily="34" charset="0"/>
                <a:cs typeface="Arial" panose="020B0604020202020204" pitchFamily="34" charset="0"/>
              </a:rPr>
              <a:t>Conflitos de endereço de IP</a:t>
            </a:r>
          </a:p>
          <a:p>
            <a:r>
              <a:rPr lang="pt-BR" sz="1600" dirty="0">
                <a:latin typeface="Arial" panose="020B0604020202020204" pitchFamily="34" charset="0"/>
                <a:cs typeface="Arial" panose="020B0604020202020204" pitchFamily="34" charset="0"/>
              </a:rPr>
              <a:t>Gateway inacessível</a:t>
            </a:r>
          </a:p>
        </p:txBody>
      </p:sp>
      <p:sp>
        <p:nvSpPr>
          <p:cNvPr id="4" name="Espaço Reservado para Conteúdo 3">
            <a:extLst>
              <a:ext uri="{FF2B5EF4-FFF2-40B4-BE49-F238E27FC236}">
                <a16:creationId xmlns:a16="http://schemas.microsoft.com/office/drawing/2014/main" id="{0D7DDBFF-D721-4E5E-3416-0D4B33F6A726}"/>
              </a:ext>
            </a:extLst>
          </p:cNvPr>
          <p:cNvSpPr>
            <a:spLocks noGrp="1"/>
          </p:cNvSpPr>
          <p:nvPr>
            <p:ph sz="half" idx="2"/>
          </p:nvPr>
        </p:nvSpPr>
        <p:spPr>
          <a:xfrm>
            <a:off x="6400800" y="2089194"/>
            <a:ext cx="5181600" cy="246761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Problemas de Performance</a:t>
            </a:r>
          </a:p>
          <a:p>
            <a:r>
              <a:rPr lang="pt-BR" sz="1600" dirty="0">
                <a:latin typeface="Arial" panose="020B0604020202020204" pitchFamily="34" charset="0"/>
                <a:cs typeface="Arial" panose="020B0604020202020204" pitchFamily="34" charset="0"/>
              </a:rPr>
              <a:t>Alta latência</a:t>
            </a:r>
          </a:p>
          <a:p>
            <a:r>
              <a:rPr lang="pt-BR" sz="1600" dirty="0">
                <a:latin typeface="Arial" panose="020B0604020202020204" pitchFamily="34" charset="0"/>
                <a:cs typeface="Arial" panose="020B0604020202020204" pitchFamily="34" charset="0"/>
              </a:rPr>
              <a:t>Perda de pacotes</a:t>
            </a:r>
          </a:p>
          <a:p>
            <a:r>
              <a:rPr lang="pt-BR" sz="1600" dirty="0">
                <a:latin typeface="Arial" panose="020B0604020202020204" pitchFamily="34" charset="0"/>
                <a:cs typeface="Arial" panose="020B0604020202020204" pitchFamily="34" charset="0"/>
              </a:rPr>
              <a:t>Gargalos de largura de banda</a:t>
            </a:r>
          </a:p>
          <a:p>
            <a:r>
              <a:rPr lang="pt-BR" sz="1600" dirty="0">
                <a:latin typeface="Arial" panose="020B0604020202020204" pitchFamily="34" charset="0"/>
                <a:cs typeface="Arial" panose="020B0604020202020204" pitchFamily="34" charset="0"/>
              </a:rPr>
              <a:t>Congestionamento de rede</a:t>
            </a:r>
          </a:p>
          <a:p>
            <a:r>
              <a:rPr lang="pt-BR" sz="1600" dirty="0">
                <a:latin typeface="Arial" panose="020B0604020202020204" pitchFamily="34" charset="0"/>
                <a:cs typeface="Arial" panose="020B0604020202020204" pitchFamily="34" charset="0"/>
              </a:rPr>
              <a:t>Taxas lentas de transferência de dados</a:t>
            </a:r>
          </a:p>
        </p:txBody>
      </p:sp>
    </p:spTree>
    <p:custDataLst>
      <p:tags r:id="rId1"/>
    </p:custDataLst>
    <p:extLst>
      <p:ext uri="{BB962C8B-B14F-4D97-AF65-F5344CB8AC3E}">
        <p14:creationId xmlns:p14="http://schemas.microsoft.com/office/powerpoint/2010/main" val="7004062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bg/>
                                          </p:spTgt>
                                        </p:tgtEl>
                                        <p:attrNameLst>
                                          <p:attrName>style.visibility</p:attrName>
                                        </p:attrNameLst>
                                      </p:cBhvr>
                                      <p:to>
                                        <p:strVal val="visible"/>
                                      </p:to>
                                    </p:set>
                                    <p:animEffect transition="in" filter="fade">
                                      <p:cBhvr>
                                        <p:cTn id="40" dur="500"/>
                                        <p:tgtEl>
                                          <p:spTgt spid="4">
                                            <p:bg/>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fade">
                                      <p:cBhvr>
                                        <p:cTn id="48" dur="500"/>
                                        <p:tgtEl>
                                          <p:spTgt spid="4">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animEffect transition="in" filter="fade">
                                      <p:cBhvr>
                                        <p:cTn id="53" dur="500"/>
                                        <p:tgtEl>
                                          <p:spTgt spid="4">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
                                            <p:txEl>
                                              <p:pRg st="3" end="3"/>
                                            </p:txEl>
                                          </p:spTgt>
                                        </p:tgtEl>
                                        <p:attrNameLst>
                                          <p:attrName>style.visibility</p:attrName>
                                        </p:attrNameLst>
                                      </p:cBhvr>
                                      <p:to>
                                        <p:strVal val="visible"/>
                                      </p:to>
                                    </p:set>
                                    <p:animEffect transition="in" filter="fade">
                                      <p:cBhvr>
                                        <p:cTn id="58" dur="500"/>
                                        <p:tgtEl>
                                          <p:spTgt spid="4">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
                                            <p:txEl>
                                              <p:pRg st="4" end="4"/>
                                            </p:txEl>
                                          </p:spTgt>
                                        </p:tgtEl>
                                        <p:attrNameLst>
                                          <p:attrName>style.visibility</p:attrName>
                                        </p:attrNameLst>
                                      </p:cBhvr>
                                      <p:to>
                                        <p:strVal val="visible"/>
                                      </p:to>
                                    </p:set>
                                    <p:animEffect transition="in" filter="fade">
                                      <p:cBhvr>
                                        <p:cTn id="63" dur="500"/>
                                        <p:tgtEl>
                                          <p:spTgt spid="4">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4">
                                            <p:txEl>
                                              <p:pRg st="5" end="5"/>
                                            </p:txEl>
                                          </p:spTgt>
                                        </p:tgtEl>
                                        <p:attrNameLst>
                                          <p:attrName>style.visibility</p:attrName>
                                        </p:attrNameLst>
                                      </p:cBhvr>
                                      <p:to>
                                        <p:strVal val="visible"/>
                                      </p:to>
                                    </p:set>
                                    <p:animEffect transition="in" filter="fade">
                                      <p:cBhvr>
                                        <p:cTn id="6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ADB644-4422-F24F-D403-257E353A2D62}"/>
              </a:ext>
            </a:extLst>
          </p:cNvPr>
          <p:cNvSpPr>
            <a:spLocks noGrp="1"/>
          </p:cNvSpPr>
          <p:nvPr>
            <p:ph type="title"/>
          </p:nvPr>
        </p:nvSpPr>
        <p:spPr>
          <a:xfrm>
            <a:off x="0" y="363600"/>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Ferramentas Essenciais para Diagnóstico</a:t>
            </a:r>
          </a:p>
        </p:txBody>
      </p:sp>
      <p:sp>
        <p:nvSpPr>
          <p:cNvPr id="9" name="Espaço Reservado para Conteúdo 2">
            <a:extLst>
              <a:ext uri="{FF2B5EF4-FFF2-40B4-BE49-F238E27FC236}">
                <a16:creationId xmlns:a16="http://schemas.microsoft.com/office/drawing/2014/main" id="{95725297-5465-8BD5-FC9C-799BD4F03FE8}"/>
              </a:ext>
            </a:extLst>
          </p:cNvPr>
          <p:cNvSpPr txBox="1">
            <a:spLocks/>
          </p:cNvSpPr>
          <p:nvPr/>
        </p:nvSpPr>
        <p:spPr>
          <a:xfrm>
            <a:off x="348000" y="4128032"/>
            <a:ext cx="3600000" cy="164635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a:t>
            </a: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netstat</a:t>
            </a:r>
          </a:p>
          <a:p>
            <a:pPr marL="0" indent="0">
              <a:buNone/>
            </a:pPr>
            <a:r>
              <a:rPr lang="pt-BR" sz="16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Exibe conexões de rede, tabelas de roteamento e estatísticas de interface.</a:t>
            </a:r>
          </a:p>
          <a:p>
            <a:pPr marL="0" indent="0" algn="ctr">
              <a:buNone/>
            </a:pPr>
            <a:r>
              <a:rPr lang="pt-BR" sz="1600" dirty="0" err="1">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netstat</a:t>
            </a: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pt-BR" sz="1600" dirty="0" err="1">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an</a:t>
            </a:r>
            <a:endPar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endParaRPr>
          </a:p>
        </p:txBody>
      </p:sp>
      <p:sp>
        <p:nvSpPr>
          <p:cNvPr id="10" name="Espaço Reservado para Conteúdo 2">
            <a:extLst>
              <a:ext uri="{FF2B5EF4-FFF2-40B4-BE49-F238E27FC236}">
                <a16:creationId xmlns:a16="http://schemas.microsoft.com/office/drawing/2014/main" id="{6746979F-C7B1-BF59-9CEF-B9A096E658E2}"/>
              </a:ext>
            </a:extLst>
          </p:cNvPr>
          <p:cNvSpPr txBox="1">
            <a:spLocks/>
          </p:cNvSpPr>
          <p:nvPr/>
        </p:nvSpPr>
        <p:spPr>
          <a:xfrm>
            <a:off x="4296000" y="4128032"/>
            <a:ext cx="3600000" cy="164635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ipconfig / ifconfig</a:t>
            </a:r>
          </a:p>
          <a:p>
            <a:pPr marL="0" indent="0">
              <a:buNone/>
            </a:pPr>
            <a:r>
              <a:rPr lang="pt-BR" sz="18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Exibe a configuração de IP para todas as interfaces de rede.</a:t>
            </a:r>
          </a:p>
          <a:p>
            <a:pPr marL="0" indent="0" algn="ctr">
              <a:buNone/>
            </a:pPr>
            <a:r>
              <a:rPr lang="pt-BR" sz="1600" dirty="0" err="1">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ipconfig</a:t>
            </a: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 /</a:t>
            </a:r>
            <a:r>
              <a:rPr lang="pt-BR" sz="1600" dirty="0" err="1">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all</a:t>
            </a:r>
            <a:endPar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endParaRPr>
          </a:p>
        </p:txBody>
      </p:sp>
      <p:sp>
        <p:nvSpPr>
          <p:cNvPr id="13" name="Espaço Reservado para Conteúdo 2">
            <a:extLst>
              <a:ext uri="{FF2B5EF4-FFF2-40B4-BE49-F238E27FC236}">
                <a16:creationId xmlns:a16="http://schemas.microsoft.com/office/drawing/2014/main" id="{76E1D39C-AE82-69C7-7338-91A11BFB7286}"/>
              </a:ext>
            </a:extLst>
          </p:cNvPr>
          <p:cNvSpPr txBox="1">
            <a:spLocks/>
          </p:cNvSpPr>
          <p:nvPr/>
        </p:nvSpPr>
        <p:spPr>
          <a:xfrm>
            <a:off x="8244000" y="4128032"/>
            <a:ext cx="3600000" cy="164635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a:t>
            </a: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Wireshark</a:t>
            </a:r>
          </a:p>
          <a:p>
            <a:pPr marL="0" indent="0">
              <a:buNone/>
            </a:pPr>
            <a:r>
              <a:rPr lang="pt-BR" sz="16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Analisador de protocolo de rede que captura e inspeciona pacotes de dados em detalhes.</a:t>
            </a:r>
          </a:p>
          <a:p>
            <a:pPr marL="0" indent="0" algn="ctr">
              <a:buNone/>
            </a:pP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Software Autônomo</a:t>
            </a:r>
          </a:p>
        </p:txBody>
      </p:sp>
      <p:sp>
        <p:nvSpPr>
          <p:cNvPr id="18" name="Espaço Reservado para Conteúdo 2">
            <a:extLst>
              <a:ext uri="{FF2B5EF4-FFF2-40B4-BE49-F238E27FC236}">
                <a16:creationId xmlns:a16="http://schemas.microsoft.com/office/drawing/2014/main" id="{74A506DF-2B5D-E552-29E3-63E861DC5E9B}"/>
              </a:ext>
            </a:extLst>
          </p:cNvPr>
          <p:cNvSpPr txBox="1">
            <a:spLocks/>
          </p:cNvSpPr>
          <p:nvPr/>
        </p:nvSpPr>
        <p:spPr>
          <a:xfrm>
            <a:off x="348000" y="2088000"/>
            <a:ext cx="3600000" cy="1646354"/>
          </a:xfrm>
          <a:prstGeom prst="roundRect">
            <a:avLst/>
          </a:prstGeom>
          <a:solidFill>
            <a:schemeClr val="tx2">
              <a:lumMod val="10000"/>
            </a:schemeClr>
          </a:solidFill>
          <a:ln>
            <a:noFill/>
          </a:ln>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ping</a:t>
            </a:r>
          </a:p>
          <a:p>
            <a:pPr marL="0" indent="0">
              <a:buNone/>
            </a:pPr>
            <a:r>
              <a:rPr lang="pt-BR" sz="16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Testa conectividade entre hosts e mede o tempo de ida e volta.</a:t>
            </a:r>
          </a:p>
          <a:p>
            <a:pPr marL="0" indent="0" algn="ctr">
              <a:buNone/>
            </a:pP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ping google.com</a:t>
            </a:r>
          </a:p>
        </p:txBody>
      </p:sp>
      <p:sp>
        <p:nvSpPr>
          <p:cNvPr id="19" name="Espaço Reservado para Conteúdo 2">
            <a:extLst>
              <a:ext uri="{FF2B5EF4-FFF2-40B4-BE49-F238E27FC236}">
                <a16:creationId xmlns:a16="http://schemas.microsoft.com/office/drawing/2014/main" id="{C8053A01-ED21-C372-4F18-8A0E82540996}"/>
              </a:ext>
            </a:extLst>
          </p:cNvPr>
          <p:cNvSpPr txBox="1">
            <a:spLocks/>
          </p:cNvSpPr>
          <p:nvPr/>
        </p:nvSpPr>
        <p:spPr>
          <a:xfrm>
            <a:off x="4296000" y="2088000"/>
            <a:ext cx="3600000" cy="164635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a:t>
            </a: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traceroute / tracert</a:t>
            </a:r>
          </a:p>
          <a:p>
            <a:pPr marL="0" indent="0">
              <a:buNone/>
            </a:pPr>
            <a:r>
              <a:rPr lang="pt-BR" sz="16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Mostra o caminho que pacotes tomam para chegar ao destino.</a:t>
            </a:r>
          </a:p>
          <a:p>
            <a:pPr marL="0" indent="0" algn="ctr">
              <a:buNone/>
            </a:pP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tracert google.com</a:t>
            </a:r>
          </a:p>
        </p:txBody>
      </p:sp>
      <p:sp>
        <p:nvSpPr>
          <p:cNvPr id="20" name="Espaço Reservado para Conteúdo 2">
            <a:extLst>
              <a:ext uri="{FF2B5EF4-FFF2-40B4-BE49-F238E27FC236}">
                <a16:creationId xmlns:a16="http://schemas.microsoft.com/office/drawing/2014/main" id="{88BD4E5A-7AF4-393F-9430-26E02D1994BD}"/>
              </a:ext>
            </a:extLst>
          </p:cNvPr>
          <p:cNvSpPr txBox="1">
            <a:spLocks/>
          </p:cNvSpPr>
          <p:nvPr/>
        </p:nvSpPr>
        <p:spPr>
          <a:xfrm>
            <a:off x="8244000" y="2088000"/>
            <a:ext cx="3600000" cy="164635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a:t>
            </a:r>
            <a:r>
              <a:rPr lang="pt-BR"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nslookup / dig</a:t>
            </a:r>
          </a:p>
          <a:p>
            <a:pPr marL="0" indent="0">
              <a:buNone/>
            </a:pPr>
            <a:r>
              <a:rPr lang="pt-BR" sz="1600"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Consulta servidores DNS para obter o mapeamento de nome de domínio ou endereço IP.</a:t>
            </a:r>
          </a:p>
          <a:p>
            <a:pPr marL="0" indent="0" algn="ctr">
              <a:buNone/>
            </a:pPr>
            <a:r>
              <a:rPr lang="pt-BR" sz="1600" dirty="0" err="1">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nslookup</a:t>
            </a:r>
            <a:r>
              <a:rPr lang="pt-BR" sz="1600" dirty="0">
                <a:solidFill>
                  <a:schemeClr val="accent5">
                    <a:lumMod val="40000"/>
                    <a:lumOff val="60000"/>
                  </a:schemeClr>
                </a:solidFill>
                <a:effectLst>
                  <a:outerShdw blurRad="50800" dist="38100" dir="2700000" algn="tl" rotWithShape="0">
                    <a:prstClr val="black">
                      <a:alpha val="40000"/>
                    </a:prstClr>
                  </a:outerShdw>
                </a:effectLst>
                <a:latin typeface="Cascadia Code SemiLight" panose="020B0609020000020004" pitchFamily="49" charset="0"/>
                <a:ea typeface="Cascadia Code SemiLight" panose="020B0609020000020004" pitchFamily="49" charset="0"/>
                <a:cs typeface="Cascadia Code SemiLight" panose="020B0609020000020004" pitchFamily="49" charset="0"/>
              </a:rPr>
              <a:t> google.com</a:t>
            </a:r>
          </a:p>
        </p:txBody>
      </p:sp>
    </p:spTree>
    <p:custDataLst>
      <p:tags r:id="rId1"/>
    </p:custDataLst>
    <p:extLst>
      <p:ext uri="{BB962C8B-B14F-4D97-AF65-F5344CB8AC3E}">
        <p14:creationId xmlns:p14="http://schemas.microsoft.com/office/powerpoint/2010/main" val="841796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animEffect transition="in" filter="fade">
                                      <p:cBhvr>
                                        <p:cTn id="7" dur="500"/>
                                        <p:tgtEl>
                                          <p:spTgt spid="18">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Effect transition="in" filter="fade">
                                      <p:cBhvr>
                                        <p:cTn id="13" dur="500"/>
                                        <p:tgtEl>
                                          <p:spTgt spid="18">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xEl>
                                              <p:pRg st="2" end="2"/>
                                            </p:txEl>
                                          </p:spTgt>
                                        </p:tgtEl>
                                        <p:attrNameLst>
                                          <p:attrName>style.visibility</p:attrName>
                                        </p:attrNameLst>
                                      </p:cBhvr>
                                      <p:to>
                                        <p:strVal val="visible"/>
                                      </p:to>
                                    </p:set>
                                    <p:animEffect transition="in" filter="fade">
                                      <p:cBhvr>
                                        <p:cTn id="16" dur="500"/>
                                        <p:tgtEl>
                                          <p:spTgt spid="18">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9">
                                            <p:bg/>
                                          </p:spTgt>
                                        </p:tgtEl>
                                        <p:attrNameLst>
                                          <p:attrName>style.visibility</p:attrName>
                                        </p:attrNameLst>
                                      </p:cBhvr>
                                      <p:to>
                                        <p:strVal val="visible"/>
                                      </p:to>
                                    </p:set>
                                    <p:animEffect transition="in" filter="fade">
                                      <p:cBhvr>
                                        <p:cTn id="21" dur="500"/>
                                        <p:tgtEl>
                                          <p:spTgt spid="19">
                                            <p:bg/>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xEl>
                                              <p:pRg st="0" end="0"/>
                                            </p:txEl>
                                          </p:spTgt>
                                        </p:tgtEl>
                                        <p:attrNameLst>
                                          <p:attrName>style.visibility</p:attrName>
                                        </p:attrNameLst>
                                      </p:cBhvr>
                                      <p:to>
                                        <p:strVal val="visible"/>
                                      </p:to>
                                    </p:set>
                                    <p:animEffect transition="in" filter="fade">
                                      <p:cBhvr>
                                        <p:cTn id="24" dur="500"/>
                                        <p:tgtEl>
                                          <p:spTgt spid="19">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xEl>
                                              <p:pRg st="1" end="1"/>
                                            </p:txEl>
                                          </p:spTgt>
                                        </p:tgtEl>
                                        <p:attrNameLst>
                                          <p:attrName>style.visibility</p:attrName>
                                        </p:attrNameLst>
                                      </p:cBhvr>
                                      <p:to>
                                        <p:strVal val="visible"/>
                                      </p:to>
                                    </p:set>
                                    <p:animEffect transition="in" filter="fade">
                                      <p:cBhvr>
                                        <p:cTn id="27" dur="500"/>
                                        <p:tgtEl>
                                          <p:spTgt spid="19">
                                            <p:txEl>
                                              <p:pRg st="1" end="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xEl>
                                              <p:pRg st="2" end="2"/>
                                            </p:txEl>
                                          </p:spTgt>
                                        </p:tgtEl>
                                        <p:attrNameLst>
                                          <p:attrName>style.visibility</p:attrName>
                                        </p:attrNameLst>
                                      </p:cBhvr>
                                      <p:to>
                                        <p:strVal val="visible"/>
                                      </p:to>
                                    </p:set>
                                    <p:animEffect transition="in" filter="fade">
                                      <p:cBhvr>
                                        <p:cTn id="30" dur="500"/>
                                        <p:tgtEl>
                                          <p:spTgt spid="1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0">
                                            <p:bg/>
                                          </p:spTgt>
                                        </p:tgtEl>
                                        <p:attrNameLst>
                                          <p:attrName>style.visibility</p:attrName>
                                        </p:attrNameLst>
                                      </p:cBhvr>
                                      <p:to>
                                        <p:strVal val="visible"/>
                                      </p:to>
                                    </p:set>
                                    <p:animEffect transition="in" filter="fade">
                                      <p:cBhvr>
                                        <p:cTn id="35" dur="500"/>
                                        <p:tgtEl>
                                          <p:spTgt spid="20">
                                            <p:bg/>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xEl>
                                              <p:pRg st="0" end="0"/>
                                            </p:txEl>
                                          </p:spTgt>
                                        </p:tgtEl>
                                        <p:attrNameLst>
                                          <p:attrName>style.visibility</p:attrName>
                                        </p:attrNameLst>
                                      </p:cBhvr>
                                      <p:to>
                                        <p:strVal val="visible"/>
                                      </p:to>
                                    </p:set>
                                    <p:animEffect transition="in" filter="fade">
                                      <p:cBhvr>
                                        <p:cTn id="38" dur="500"/>
                                        <p:tgtEl>
                                          <p:spTgt spid="20">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xEl>
                                              <p:pRg st="1" end="1"/>
                                            </p:txEl>
                                          </p:spTgt>
                                        </p:tgtEl>
                                        <p:attrNameLst>
                                          <p:attrName>style.visibility</p:attrName>
                                        </p:attrNameLst>
                                      </p:cBhvr>
                                      <p:to>
                                        <p:strVal val="visible"/>
                                      </p:to>
                                    </p:set>
                                    <p:animEffect transition="in" filter="fade">
                                      <p:cBhvr>
                                        <p:cTn id="41" dur="500"/>
                                        <p:tgtEl>
                                          <p:spTgt spid="20">
                                            <p:txEl>
                                              <p:pRg st="1" end="1"/>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xEl>
                                              <p:pRg st="2" end="2"/>
                                            </p:txEl>
                                          </p:spTgt>
                                        </p:tgtEl>
                                        <p:attrNameLst>
                                          <p:attrName>style.visibility</p:attrName>
                                        </p:attrNameLst>
                                      </p:cBhvr>
                                      <p:to>
                                        <p:strVal val="visible"/>
                                      </p:to>
                                    </p:set>
                                    <p:animEffect transition="in" filter="fade">
                                      <p:cBhvr>
                                        <p:cTn id="44" dur="500"/>
                                        <p:tgtEl>
                                          <p:spTgt spid="20">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9">
                                            <p:bg/>
                                          </p:spTgt>
                                        </p:tgtEl>
                                        <p:attrNameLst>
                                          <p:attrName>style.visibility</p:attrName>
                                        </p:attrNameLst>
                                      </p:cBhvr>
                                      <p:to>
                                        <p:strVal val="visible"/>
                                      </p:to>
                                    </p:set>
                                    <p:animEffect transition="in" filter="fade">
                                      <p:cBhvr>
                                        <p:cTn id="49" dur="500"/>
                                        <p:tgtEl>
                                          <p:spTgt spid="9">
                                            <p:bg/>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9">
                                            <p:txEl>
                                              <p:pRg st="0" end="0"/>
                                            </p:txEl>
                                          </p:spTgt>
                                        </p:tgtEl>
                                        <p:attrNameLst>
                                          <p:attrName>style.visibility</p:attrName>
                                        </p:attrNameLst>
                                      </p:cBhvr>
                                      <p:to>
                                        <p:strVal val="visible"/>
                                      </p:to>
                                    </p:set>
                                    <p:animEffect transition="in" filter="fade">
                                      <p:cBhvr>
                                        <p:cTn id="52" dur="500"/>
                                        <p:tgtEl>
                                          <p:spTgt spid="9">
                                            <p:txEl>
                                              <p:pRg st="0" end="0"/>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
                                            <p:txEl>
                                              <p:pRg st="1" end="1"/>
                                            </p:txEl>
                                          </p:spTgt>
                                        </p:tgtEl>
                                        <p:attrNameLst>
                                          <p:attrName>style.visibility</p:attrName>
                                        </p:attrNameLst>
                                      </p:cBhvr>
                                      <p:to>
                                        <p:strVal val="visible"/>
                                      </p:to>
                                    </p:set>
                                    <p:animEffect transition="in" filter="fade">
                                      <p:cBhvr>
                                        <p:cTn id="55" dur="500"/>
                                        <p:tgtEl>
                                          <p:spTgt spid="9">
                                            <p:txEl>
                                              <p:pRg st="1" end="1"/>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9">
                                            <p:txEl>
                                              <p:pRg st="2" end="2"/>
                                            </p:txEl>
                                          </p:spTgt>
                                        </p:tgtEl>
                                        <p:attrNameLst>
                                          <p:attrName>style.visibility</p:attrName>
                                        </p:attrNameLst>
                                      </p:cBhvr>
                                      <p:to>
                                        <p:strVal val="visible"/>
                                      </p:to>
                                    </p:set>
                                    <p:animEffect transition="in" filter="fade">
                                      <p:cBhvr>
                                        <p:cTn id="58" dur="500"/>
                                        <p:tgtEl>
                                          <p:spTgt spid="9">
                                            <p:txEl>
                                              <p:pRg st="2" end="2"/>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0">
                                            <p:bg/>
                                          </p:spTgt>
                                        </p:tgtEl>
                                        <p:attrNameLst>
                                          <p:attrName>style.visibility</p:attrName>
                                        </p:attrNameLst>
                                      </p:cBhvr>
                                      <p:to>
                                        <p:strVal val="visible"/>
                                      </p:to>
                                    </p:set>
                                    <p:animEffect transition="in" filter="fade">
                                      <p:cBhvr>
                                        <p:cTn id="63" dur="500"/>
                                        <p:tgtEl>
                                          <p:spTgt spid="10">
                                            <p:bg/>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0">
                                            <p:txEl>
                                              <p:pRg st="0" end="0"/>
                                            </p:txEl>
                                          </p:spTgt>
                                        </p:tgtEl>
                                        <p:attrNameLst>
                                          <p:attrName>style.visibility</p:attrName>
                                        </p:attrNameLst>
                                      </p:cBhvr>
                                      <p:to>
                                        <p:strVal val="visible"/>
                                      </p:to>
                                    </p:set>
                                    <p:animEffect transition="in" filter="fade">
                                      <p:cBhvr>
                                        <p:cTn id="66" dur="500"/>
                                        <p:tgtEl>
                                          <p:spTgt spid="10">
                                            <p:txEl>
                                              <p:pRg st="0" end="0"/>
                                            </p:txEl>
                                          </p:spTgt>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0">
                                            <p:txEl>
                                              <p:pRg st="1" end="1"/>
                                            </p:txEl>
                                          </p:spTgt>
                                        </p:tgtEl>
                                        <p:attrNameLst>
                                          <p:attrName>style.visibility</p:attrName>
                                        </p:attrNameLst>
                                      </p:cBhvr>
                                      <p:to>
                                        <p:strVal val="visible"/>
                                      </p:to>
                                    </p:set>
                                    <p:animEffect transition="in" filter="fade">
                                      <p:cBhvr>
                                        <p:cTn id="69" dur="500"/>
                                        <p:tgtEl>
                                          <p:spTgt spid="10">
                                            <p:txEl>
                                              <p:pRg st="1" end="1"/>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0">
                                            <p:txEl>
                                              <p:pRg st="2" end="2"/>
                                            </p:txEl>
                                          </p:spTgt>
                                        </p:tgtEl>
                                        <p:attrNameLst>
                                          <p:attrName>style.visibility</p:attrName>
                                        </p:attrNameLst>
                                      </p:cBhvr>
                                      <p:to>
                                        <p:strVal val="visible"/>
                                      </p:to>
                                    </p:set>
                                    <p:animEffect transition="in" filter="fade">
                                      <p:cBhvr>
                                        <p:cTn id="72" dur="500"/>
                                        <p:tgtEl>
                                          <p:spTgt spid="10">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3">
                                            <p:bg/>
                                          </p:spTgt>
                                        </p:tgtEl>
                                        <p:attrNameLst>
                                          <p:attrName>style.visibility</p:attrName>
                                        </p:attrNameLst>
                                      </p:cBhvr>
                                      <p:to>
                                        <p:strVal val="visible"/>
                                      </p:to>
                                    </p:set>
                                    <p:animEffect transition="in" filter="fade">
                                      <p:cBhvr>
                                        <p:cTn id="77" dur="500"/>
                                        <p:tgtEl>
                                          <p:spTgt spid="13">
                                            <p:bg/>
                                          </p:spTgt>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3">
                                            <p:txEl>
                                              <p:pRg st="0" end="0"/>
                                            </p:txEl>
                                          </p:spTgt>
                                        </p:tgtEl>
                                        <p:attrNameLst>
                                          <p:attrName>style.visibility</p:attrName>
                                        </p:attrNameLst>
                                      </p:cBhvr>
                                      <p:to>
                                        <p:strVal val="visible"/>
                                      </p:to>
                                    </p:set>
                                    <p:animEffect transition="in" filter="fade">
                                      <p:cBhvr>
                                        <p:cTn id="80" dur="500"/>
                                        <p:tgtEl>
                                          <p:spTgt spid="13">
                                            <p:txEl>
                                              <p:pRg st="0" end="0"/>
                                            </p:txEl>
                                          </p:spTgt>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3">
                                            <p:txEl>
                                              <p:pRg st="1" end="1"/>
                                            </p:txEl>
                                          </p:spTgt>
                                        </p:tgtEl>
                                        <p:attrNameLst>
                                          <p:attrName>style.visibility</p:attrName>
                                        </p:attrNameLst>
                                      </p:cBhvr>
                                      <p:to>
                                        <p:strVal val="visible"/>
                                      </p:to>
                                    </p:set>
                                    <p:animEffect transition="in" filter="fade">
                                      <p:cBhvr>
                                        <p:cTn id="83" dur="500"/>
                                        <p:tgtEl>
                                          <p:spTgt spid="13">
                                            <p:txEl>
                                              <p:pRg st="1" end="1"/>
                                            </p:txEl>
                                          </p:spTgt>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3">
                                            <p:txEl>
                                              <p:pRg st="2" end="2"/>
                                            </p:txEl>
                                          </p:spTgt>
                                        </p:tgtEl>
                                        <p:attrNameLst>
                                          <p:attrName>style.visibility</p:attrName>
                                        </p:attrNameLst>
                                      </p:cBhvr>
                                      <p:to>
                                        <p:strVal val="visible"/>
                                      </p:to>
                                    </p:set>
                                    <p:animEffect transition="in" filter="fade">
                                      <p:cBhvr>
                                        <p:cTn id="86"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animBg="1"/>
      <p:bldP spid="10" grpId="0" build="allAtOnce" animBg="1"/>
      <p:bldP spid="13" grpId="0" build="allAtOnce" animBg="1"/>
      <p:bldP spid="18" grpId="0" build="allAtOnce" animBg="1"/>
      <p:bldP spid="19" grpId="0" build="allAtOnce" animBg="1"/>
      <p:bldP spid="20" grpId="0"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C10E33-E577-67B7-A118-A371913C2412}"/>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Usando Ping para Diagnosticar a Rede</a:t>
            </a:r>
          </a:p>
        </p:txBody>
      </p:sp>
      <p:sp>
        <p:nvSpPr>
          <p:cNvPr id="3" name="Espaço Reservado para Conteúdo 2">
            <a:extLst>
              <a:ext uri="{FF2B5EF4-FFF2-40B4-BE49-F238E27FC236}">
                <a16:creationId xmlns:a16="http://schemas.microsoft.com/office/drawing/2014/main" id="{CF6018AF-33EA-6425-3165-E3A92974FD50}"/>
              </a:ext>
            </a:extLst>
          </p:cNvPr>
          <p:cNvSpPr>
            <a:spLocks noGrp="1"/>
          </p:cNvSpPr>
          <p:nvPr>
            <p:ph sz="half" idx="1"/>
          </p:nvPr>
        </p:nvSpPr>
        <p:spPr>
          <a:xfrm>
            <a:off x="609600" y="2088000"/>
            <a:ext cx="5181600" cy="4063111"/>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Fundamentos de Ping</a:t>
            </a:r>
          </a:p>
          <a:p>
            <a:r>
              <a:rPr lang="pt-BR" sz="1600" dirty="0">
                <a:latin typeface="Arial" panose="020B0604020202020204" pitchFamily="34" charset="0"/>
                <a:cs typeface="Arial" panose="020B0604020202020204" pitchFamily="34" charset="0"/>
              </a:rPr>
              <a:t>Utiliza pacotes de solicitação/resposta de eco ICMP</a:t>
            </a:r>
          </a:p>
          <a:p>
            <a:r>
              <a:rPr lang="pt-BR" sz="1600" dirty="0">
                <a:latin typeface="Arial" panose="020B0604020202020204" pitchFamily="34" charset="0"/>
                <a:cs typeface="Arial" panose="020B0604020202020204" pitchFamily="34" charset="0"/>
              </a:rPr>
              <a:t>Mede o tempo de ida e volta (RTT) em milissegundos</a:t>
            </a:r>
          </a:p>
          <a:p>
            <a:r>
              <a:rPr lang="pt-BR" sz="1600" dirty="0">
                <a:latin typeface="Arial" panose="020B0604020202020204" pitchFamily="34" charset="0"/>
                <a:cs typeface="Arial" panose="020B0604020202020204" pitchFamily="34" charset="0"/>
              </a:rPr>
              <a:t>Relata a porcentagem de perda de pacotes</a:t>
            </a:r>
          </a:p>
          <a:p>
            <a:r>
              <a:rPr lang="pt-BR" sz="1600" dirty="0">
                <a:latin typeface="Arial" panose="020B0604020202020204" pitchFamily="34" charset="0"/>
                <a:cs typeface="Arial" panose="020B0604020202020204" pitchFamily="34" charset="0"/>
              </a:rPr>
              <a:t>Verifica a conectividade básica entre hosts</a:t>
            </a:r>
          </a:p>
          <a:p>
            <a:r>
              <a:rPr lang="pt-BR" sz="1600" dirty="0">
                <a:latin typeface="Arial" panose="020B0604020202020204" pitchFamily="34" charset="0"/>
                <a:cs typeface="Arial" panose="020B0604020202020204" pitchFamily="34" charset="0"/>
              </a:rPr>
              <a:t>Disponível em todos os principais sistemas operacionais</a:t>
            </a:r>
          </a:p>
        </p:txBody>
      </p:sp>
      <p:sp>
        <p:nvSpPr>
          <p:cNvPr id="4" name="Espaço Reservado para Conteúdo 3">
            <a:extLst>
              <a:ext uri="{FF2B5EF4-FFF2-40B4-BE49-F238E27FC236}">
                <a16:creationId xmlns:a16="http://schemas.microsoft.com/office/drawing/2014/main" id="{1D3B6277-314B-C333-B692-481B5CF9CAAD}"/>
              </a:ext>
            </a:extLst>
          </p:cNvPr>
          <p:cNvSpPr>
            <a:spLocks noGrp="1"/>
          </p:cNvSpPr>
          <p:nvPr>
            <p:ph sz="half" idx="2"/>
          </p:nvPr>
        </p:nvSpPr>
        <p:spPr>
          <a:xfrm>
            <a:off x="6400800" y="2088000"/>
            <a:ext cx="5181600" cy="4063111"/>
          </a:xfrm>
          <a:prstGeom prst="round2Diag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Exemplo de Ping</a:t>
            </a:r>
          </a:p>
          <a:p>
            <a:pPr marL="0" indent="0">
              <a:buNone/>
            </a:pP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Comando Básico de Ping:</a:t>
            </a:r>
            <a:b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br>
            <a:b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b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&gt;ping google.com</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Pinging google.com [2800:3f0:4001:847::200e] with 32 bytes of data:</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Reply from 2800:3f0:4001:847::200e: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time=6ms</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Reply from 2800:3f0:4001:847::200e: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time=5ms</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Reply from 2800:3f0:4001:847::200e: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time=8ms</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Reply from 2800:3f0:4001:847::200e: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time=6ms</a:t>
            </a:r>
          </a:p>
          <a:p>
            <a:pPr marL="0" indent="0">
              <a:buNone/>
            </a:pPr>
            <a:endPar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Ping statistics for 2800:3f0:4001:847::200e:</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Packets: Sent = 4, Received = 4, Lost = 0 (0% loss),</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Approximate round trip times in milli-seconds:</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Minimum = 5ms, Maximum = 8ms, Average = 6ms</a:t>
            </a:r>
          </a:p>
        </p:txBody>
      </p:sp>
    </p:spTree>
    <p:extLst>
      <p:ext uri="{BB962C8B-B14F-4D97-AF65-F5344CB8AC3E}">
        <p14:creationId xmlns:p14="http://schemas.microsoft.com/office/powerpoint/2010/main" val="26433117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bg/>
                                          </p:spTgt>
                                        </p:tgtEl>
                                        <p:attrNameLst>
                                          <p:attrName>style.visibility</p:attrName>
                                        </p:attrNameLst>
                                      </p:cBhvr>
                                      <p:to>
                                        <p:strVal val="visible"/>
                                      </p:to>
                                    </p:set>
                                    <p:animEffect transition="in" filter="fade">
                                      <p:cBhvr>
                                        <p:cTn id="40" dur="500"/>
                                        <p:tgtEl>
                                          <p:spTgt spid="4">
                                            <p:bg/>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
                                            <p:txEl>
                                              <p:pRg st="1" end="1"/>
                                            </p:txEl>
                                          </p:spTgt>
                                        </p:tgtEl>
                                        <p:attrNameLst>
                                          <p:attrName>style.visibility</p:attrName>
                                        </p:attrNameLst>
                                      </p:cBhvr>
                                      <p:to>
                                        <p:strVal val="visible"/>
                                      </p:to>
                                    </p:set>
                                    <p:animEffect transition="in" filter="fade">
                                      <p:cBhvr>
                                        <p:cTn id="48" dur="500"/>
                                        <p:tgtEl>
                                          <p:spTgt spid="4">
                                            <p:txEl>
                                              <p:pRg st="1" end="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
                                            <p:txEl>
                                              <p:pRg st="2" end="2"/>
                                            </p:txEl>
                                          </p:spTgt>
                                        </p:tgtEl>
                                        <p:attrNameLst>
                                          <p:attrName>style.visibility</p:attrName>
                                        </p:attrNameLst>
                                      </p:cBhvr>
                                      <p:to>
                                        <p:strVal val="visible"/>
                                      </p:to>
                                    </p:set>
                                    <p:animEffect transition="in" filter="fade">
                                      <p:cBhvr>
                                        <p:cTn id="51" dur="500"/>
                                        <p:tgtEl>
                                          <p:spTgt spid="4">
                                            <p:txEl>
                                              <p:pRg st="2" end="2"/>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
                                            <p:txEl>
                                              <p:pRg st="3" end="3"/>
                                            </p:txEl>
                                          </p:spTgt>
                                        </p:tgtEl>
                                        <p:attrNameLst>
                                          <p:attrName>style.visibility</p:attrName>
                                        </p:attrNameLst>
                                      </p:cBhvr>
                                      <p:to>
                                        <p:strVal val="visible"/>
                                      </p:to>
                                    </p:set>
                                    <p:animEffect transition="in" filter="fade">
                                      <p:cBhvr>
                                        <p:cTn id="54" dur="500"/>
                                        <p:tgtEl>
                                          <p:spTgt spid="4">
                                            <p:txEl>
                                              <p:pRg st="3" end="3"/>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fade">
                                      <p:cBhvr>
                                        <p:cTn id="57" dur="500"/>
                                        <p:tgtEl>
                                          <p:spTgt spid="4">
                                            <p:txEl>
                                              <p:pRg st="4" end="4"/>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xEl>
                                              <p:pRg st="5" end="5"/>
                                            </p:txEl>
                                          </p:spTgt>
                                        </p:tgtEl>
                                        <p:attrNameLst>
                                          <p:attrName>style.visibility</p:attrName>
                                        </p:attrNameLst>
                                      </p:cBhvr>
                                      <p:to>
                                        <p:strVal val="visible"/>
                                      </p:to>
                                    </p:set>
                                    <p:animEffect transition="in" filter="fade">
                                      <p:cBhvr>
                                        <p:cTn id="60" dur="500"/>
                                        <p:tgtEl>
                                          <p:spTgt spid="4">
                                            <p:txEl>
                                              <p:pRg st="5" end="5"/>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animEffect transition="in" filter="fade">
                                      <p:cBhvr>
                                        <p:cTn id="63" dur="500"/>
                                        <p:tgtEl>
                                          <p:spTgt spid="4">
                                            <p:txEl>
                                              <p:pRg st="6" end="6"/>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
                                            <p:txEl>
                                              <p:pRg st="8" end="8"/>
                                            </p:txEl>
                                          </p:spTgt>
                                        </p:tgtEl>
                                        <p:attrNameLst>
                                          <p:attrName>style.visibility</p:attrName>
                                        </p:attrNameLst>
                                      </p:cBhvr>
                                      <p:to>
                                        <p:strVal val="visible"/>
                                      </p:to>
                                    </p:set>
                                    <p:animEffect transition="in" filter="fade">
                                      <p:cBhvr>
                                        <p:cTn id="66" dur="500"/>
                                        <p:tgtEl>
                                          <p:spTgt spid="4">
                                            <p:txEl>
                                              <p:pRg st="8" end="8"/>
                                            </p:txEl>
                                          </p:spTgt>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
                                            <p:txEl>
                                              <p:pRg st="9" end="9"/>
                                            </p:txEl>
                                          </p:spTgt>
                                        </p:tgtEl>
                                        <p:attrNameLst>
                                          <p:attrName>style.visibility</p:attrName>
                                        </p:attrNameLst>
                                      </p:cBhvr>
                                      <p:to>
                                        <p:strVal val="visible"/>
                                      </p:to>
                                    </p:set>
                                    <p:animEffect transition="in" filter="fade">
                                      <p:cBhvr>
                                        <p:cTn id="69" dur="500"/>
                                        <p:tgtEl>
                                          <p:spTgt spid="4">
                                            <p:txEl>
                                              <p:pRg st="9" end="9"/>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
                                            <p:txEl>
                                              <p:pRg st="10" end="10"/>
                                            </p:txEl>
                                          </p:spTgt>
                                        </p:tgtEl>
                                        <p:attrNameLst>
                                          <p:attrName>style.visibility</p:attrName>
                                        </p:attrNameLst>
                                      </p:cBhvr>
                                      <p:to>
                                        <p:strVal val="visible"/>
                                      </p:to>
                                    </p:set>
                                    <p:animEffect transition="in" filter="fade">
                                      <p:cBhvr>
                                        <p:cTn id="72" dur="500"/>
                                        <p:tgtEl>
                                          <p:spTgt spid="4">
                                            <p:txEl>
                                              <p:pRg st="10" end="10"/>
                                            </p:txEl>
                                          </p:spTgt>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
                                            <p:txEl>
                                              <p:pRg st="11" end="11"/>
                                            </p:txEl>
                                          </p:spTgt>
                                        </p:tgtEl>
                                        <p:attrNameLst>
                                          <p:attrName>style.visibility</p:attrName>
                                        </p:attrNameLst>
                                      </p:cBhvr>
                                      <p:to>
                                        <p:strVal val="visible"/>
                                      </p:to>
                                    </p:set>
                                    <p:animEffect transition="in" filter="fade">
                                      <p:cBhvr>
                                        <p:cTn id="75"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C9B0F-2662-C6B5-1344-6BACC2BDCF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68CCA0-3E88-891E-B9D0-77ED24D75BD5}"/>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Usando Traceroute/Tracert para Análise de Rota</a:t>
            </a:r>
          </a:p>
        </p:txBody>
      </p:sp>
      <p:sp>
        <p:nvSpPr>
          <p:cNvPr id="3" name="Espaço Reservado para Conteúdo 2">
            <a:extLst>
              <a:ext uri="{FF2B5EF4-FFF2-40B4-BE49-F238E27FC236}">
                <a16:creationId xmlns:a16="http://schemas.microsoft.com/office/drawing/2014/main" id="{05893FAB-539C-59F3-04B1-B12997D934CA}"/>
              </a:ext>
            </a:extLst>
          </p:cNvPr>
          <p:cNvSpPr>
            <a:spLocks noGrp="1"/>
          </p:cNvSpPr>
          <p:nvPr>
            <p:ph sz="half" idx="1"/>
          </p:nvPr>
        </p:nvSpPr>
        <p:spPr>
          <a:xfrm>
            <a:off x="609600" y="2088000"/>
            <a:ext cx="5181600" cy="4224194"/>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lnSpcReduction="10000"/>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Fundamentos de Traceroute</a:t>
            </a:r>
          </a:p>
          <a:p>
            <a:r>
              <a:rPr lang="pt-BR" sz="1600" dirty="0">
                <a:latin typeface="Arial" panose="020B0604020202020204" pitchFamily="34" charset="0"/>
                <a:cs typeface="Arial" panose="020B0604020202020204" pitchFamily="34" charset="0"/>
              </a:rPr>
              <a:t>Mapeia o caminho na rede entre a origem e o destino</a:t>
            </a:r>
          </a:p>
          <a:p>
            <a:r>
              <a:rPr lang="pt-BR" sz="1600" dirty="0">
                <a:latin typeface="Arial" panose="020B0604020202020204" pitchFamily="34" charset="0"/>
                <a:cs typeface="Arial" panose="020B0604020202020204" pitchFamily="34" charset="0"/>
              </a:rPr>
              <a:t>Mostra cada roteador (salto) ao longo da rota</a:t>
            </a:r>
          </a:p>
          <a:p>
            <a:r>
              <a:rPr lang="pt-BR" sz="1600" dirty="0">
                <a:latin typeface="Arial" panose="020B0604020202020204" pitchFamily="34" charset="0"/>
                <a:cs typeface="Arial" panose="020B0604020202020204" pitchFamily="34" charset="0"/>
              </a:rPr>
              <a:t>Mede a latência em cada salto</a:t>
            </a:r>
          </a:p>
          <a:p>
            <a:r>
              <a:rPr lang="pt-BR" sz="1600" dirty="0">
                <a:latin typeface="Arial" panose="020B0604020202020204" pitchFamily="34" charset="0"/>
                <a:cs typeface="Arial" panose="020B0604020202020204" pitchFamily="34" charset="0"/>
              </a:rPr>
              <a:t>Identifica onde ocorre a perda de pacotes</a:t>
            </a:r>
          </a:p>
          <a:p>
            <a:endParaRPr lang="pt-BR" sz="1600" dirty="0">
              <a:latin typeface="Arial" panose="020B0604020202020204" pitchFamily="34" charset="0"/>
              <a:cs typeface="Arial" panose="020B0604020202020204" pitchFamily="34" charset="0"/>
            </a:endParaRPr>
          </a:p>
          <a:p>
            <a:pPr marL="0" indent="0" algn="ctr">
              <a:buNone/>
            </a:pPr>
            <a:r>
              <a:rPr lang="pt-BR" sz="1600" dirty="0">
                <a:solidFill>
                  <a:schemeClr val="accent2">
                    <a:lumMod val="40000"/>
                    <a:lumOff val="60000"/>
                  </a:schemeClr>
                </a:solidFill>
                <a:latin typeface="Arial" panose="020B0604020202020204" pitchFamily="34" charset="0"/>
                <a:cs typeface="Arial" panose="020B0604020202020204" pitchFamily="34" charset="0"/>
              </a:rPr>
              <a:t>tracert</a:t>
            </a:r>
            <a:br>
              <a:rPr lang="pt-BR" sz="1800" dirty="0">
                <a:solidFill>
                  <a:schemeClr val="accent2">
                    <a:lumMod val="40000"/>
                    <a:lumOff val="60000"/>
                  </a:schemeClr>
                </a:solidFill>
                <a:latin typeface="Arial" panose="020B0604020202020204" pitchFamily="34" charset="0"/>
                <a:cs typeface="Arial" panose="020B0604020202020204" pitchFamily="34" charset="0"/>
              </a:rPr>
            </a:br>
            <a:r>
              <a:rPr lang="pt-BR" sz="1400" dirty="0">
                <a:solidFill>
                  <a:schemeClr val="accent4">
                    <a:lumMod val="40000"/>
                    <a:lumOff val="60000"/>
                  </a:schemeClr>
                </a:solidFill>
                <a:latin typeface="Arial" panose="020B0604020202020204" pitchFamily="34" charset="0"/>
                <a:cs typeface="Arial" panose="020B0604020202020204" pitchFamily="34" charset="0"/>
              </a:rPr>
              <a:t>Windows</a:t>
            </a:r>
          </a:p>
          <a:p>
            <a:pPr marL="0" indent="0" algn="ctr">
              <a:buNone/>
            </a:pPr>
            <a:r>
              <a:rPr lang="pt-BR" sz="1600" dirty="0">
                <a:solidFill>
                  <a:schemeClr val="accent2">
                    <a:lumMod val="40000"/>
                    <a:lumOff val="60000"/>
                  </a:schemeClr>
                </a:solidFill>
                <a:latin typeface="Arial" panose="020B0604020202020204" pitchFamily="34" charset="0"/>
                <a:cs typeface="Arial" panose="020B0604020202020204" pitchFamily="34" charset="0"/>
              </a:rPr>
              <a:t>traceroute</a:t>
            </a:r>
            <a:br>
              <a:rPr lang="pt-BR" sz="1800" dirty="0">
                <a:latin typeface="Arial" panose="020B0604020202020204" pitchFamily="34" charset="0"/>
                <a:cs typeface="Arial" panose="020B0604020202020204" pitchFamily="34" charset="0"/>
              </a:rPr>
            </a:br>
            <a:r>
              <a:rPr lang="pt-BR" sz="1400" dirty="0">
                <a:solidFill>
                  <a:schemeClr val="accent4">
                    <a:lumMod val="40000"/>
                    <a:lumOff val="60000"/>
                  </a:schemeClr>
                </a:solidFill>
                <a:latin typeface="Arial" panose="020B0604020202020204" pitchFamily="34" charset="0"/>
                <a:cs typeface="Arial" panose="020B0604020202020204" pitchFamily="34" charset="0"/>
              </a:rPr>
              <a:t>Linux e macOS</a:t>
            </a:r>
            <a:endParaRPr lang="pt-BR" sz="1400" b="1" dirty="0">
              <a:solidFill>
                <a:schemeClr val="accent2">
                  <a:lumMod val="40000"/>
                  <a:lumOff val="60000"/>
                </a:schemeClr>
              </a:solidFill>
              <a:latin typeface="Arial" panose="020B0604020202020204" pitchFamily="34" charset="0"/>
              <a:cs typeface="Arial" panose="020B0604020202020204" pitchFamily="34" charset="0"/>
            </a:endParaRPr>
          </a:p>
        </p:txBody>
      </p:sp>
      <p:sp>
        <p:nvSpPr>
          <p:cNvPr id="4" name="Espaço Reservado para Conteúdo 3">
            <a:extLst>
              <a:ext uri="{FF2B5EF4-FFF2-40B4-BE49-F238E27FC236}">
                <a16:creationId xmlns:a16="http://schemas.microsoft.com/office/drawing/2014/main" id="{ADAC4421-701F-C5B4-B8B9-B2606C9A7F8E}"/>
              </a:ext>
            </a:extLst>
          </p:cNvPr>
          <p:cNvSpPr>
            <a:spLocks noGrp="1"/>
          </p:cNvSpPr>
          <p:nvPr>
            <p:ph sz="half" idx="2"/>
          </p:nvPr>
        </p:nvSpPr>
        <p:spPr>
          <a:xfrm>
            <a:off x="6400800" y="2088000"/>
            <a:ext cx="5181600" cy="4224194"/>
          </a:xfrm>
          <a:prstGeom prst="round2DiagRect">
            <a:avLst/>
          </a:prstGeom>
          <a:solidFill>
            <a:schemeClr val="tx2">
              <a:lumMod val="10000"/>
            </a:schemeClr>
          </a:solidFill>
          <a:effectLst>
            <a:outerShdw blurRad="50800" dist="63500" dir="2700000" algn="tl" rotWithShape="0">
              <a:prstClr val="black">
                <a:alpha val="40000"/>
              </a:prstClr>
            </a:outerShdw>
          </a:effectLst>
        </p:spPr>
        <p:txBody>
          <a:bodyPr>
            <a:normAutofit lnSpcReduction="10000"/>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Exemplo de Traceroute</a:t>
            </a:r>
          </a:p>
          <a:p>
            <a:pPr marL="0" indent="0">
              <a:buNone/>
            </a:pP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Comando básico de Tracert:</a:t>
            </a: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&gt;tracert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–h 5</a:t>
            </a: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google.com </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Tracing route to google.com [2800:3f0:4001:81a::200e]</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over a maximum of 5 hops:</a:t>
            </a:r>
          </a:p>
          <a:p>
            <a:pPr marL="0" indent="0">
              <a:buNone/>
            </a:pPr>
            <a:endPar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1    &lt;1 ms    &lt;1 ms    &lt;1 ms  </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2804:7f0:9280:bc05:aec6:62ff:fe89:7949</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a:solidFill>
                  <a:schemeClr val="accent1">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     *        *        *     </a:t>
            </a: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Request timed out.</a:t>
            </a: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3     3 ms     2 ms     4 ms  </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2001:12e0:500:c04f:201:1:224:114</a:t>
            </a: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4     3 ms     4 ms     3 ms  </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2001:12e0:100:2009:a002:2009:a006:4</a:t>
            </a: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5     7 ms    16 ms     5 ms  </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2001:12e0:100:1025:a002:2009:a002:20</a:t>
            </a:r>
          </a:p>
          <a:p>
            <a:pPr marL="0" indent="0">
              <a:buNone/>
            </a:pPr>
            <a:endPar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Trace complete.</a:t>
            </a:r>
            <a:endPar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1772776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bg/>
                                          </p:spTgt>
                                        </p:tgtEl>
                                        <p:attrNameLst>
                                          <p:attrName>style.visibility</p:attrName>
                                        </p:attrNameLst>
                                      </p:cBhvr>
                                      <p:to>
                                        <p:strVal val="visible"/>
                                      </p:to>
                                    </p:set>
                                    <p:animEffect transition="in" filter="fade">
                                      <p:cBhvr>
                                        <p:cTn id="35" dur="500"/>
                                        <p:tgtEl>
                                          <p:spTgt spid="4">
                                            <p:bg/>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animEffect transition="in" filter="fade">
                                      <p:cBhvr>
                                        <p:cTn id="38" dur="500"/>
                                        <p:tgtEl>
                                          <p:spTgt spid="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animEffect transition="in" filter="fade">
                                      <p:cBhvr>
                                        <p:cTn id="43" dur="500"/>
                                        <p:tgtEl>
                                          <p:spTgt spid="4">
                                            <p:txEl>
                                              <p:pRg st="1" end="1"/>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Effect transition="in" filter="fade">
                                      <p:cBhvr>
                                        <p:cTn id="46" dur="500"/>
                                        <p:tgtEl>
                                          <p:spTgt spid="4">
                                            <p:txEl>
                                              <p:pRg st="2" end="2"/>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Effect transition="in" filter="fade">
                                      <p:cBhvr>
                                        <p:cTn id="49" dur="500"/>
                                        <p:tgtEl>
                                          <p:spTgt spid="4">
                                            <p:txEl>
                                              <p:pRg st="3" end="3"/>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
                                            <p:txEl>
                                              <p:pRg st="4" end="4"/>
                                            </p:txEl>
                                          </p:spTgt>
                                        </p:tgtEl>
                                        <p:attrNameLst>
                                          <p:attrName>style.visibility</p:attrName>
                                        </p:attrNameLst>
                                      </p:cBhvr>
                                      <p:to>
                                        <p:strVal val="visible"/>
                                      </p:to>
                                    </p:set>
                                    <p:animEffect transition="in" filter="fade">
                                      <p:cBhvr>
                                        <p:cTn id="52" dur="500"/>
                                        <p:tgtEl>
                                          <p:spTgt spid="4">
                                            <p:txEl>
                                              <p:pRg st="4" end="4"/>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animEffect transition="in" filter="fade">
                                      <p:cBhvr>
                                        <p:cTn id="55" dur="500"/>
                                        <p:tgtEl>
                                          <p:spTgt spid="4">
                                            <p:txEl>
                                              <p:pRg st="6" end="6"/>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
                                            <p:txEl>
                                              <p:pRg st="7" end="7"/>
                                            </p:txEl>
                                          </p:spTgt>
                                        </p:tgtEl>
                                        <p:attrNameLst>
                                          <p:attrName>style.visibility</p:attrName>
                                        </p:attrNameLst>
                                      </p:cBhvr>
                                      <p:to>
                                        <p:strVal val="visible"/>
                                      </p:to>
                                    </p:set>
                                    <p:animEffect transition="in" filter="fade">
                                      <p:cBhvr>
                                        <p:cTn id="58" dur="500"/>
                                        <p:tgtEl>
                                          <p:spTgt spid="4">
                                            <p:txEl>
                                              <p:pRg st="7" end="7"/>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500"/>
                                        <p:tgtEl>
                                          <p:spTgt spid="4">
                                            <p:txEl>
                                              <p:pRg st="8" end="8"/>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
                                            <p:txEl>
                                              <p:pRg st="9" end="9"/>
                                            </p:txEl>
                                          </p:spTgt>
                                        </p:tgtEl>
                                        <p:attrNameLst>
                                          <p:attrName>style.visibility</p:attrName>
                                        </p:attrNameLst>
                                      </p:cBhvr>
                                      <p:to>
                                        <p:strVal val="visible"/>
                                      </p:to>
                                    </p:set>
                                    <p:animEffect transition="in" filter="fade">
                                      <p:cBhvr>
                                        <p:cTn id="64" dur="500"/>
                                        <p:tgtEl>
                                          <p:spTgt spid="4">
                                            <p:txEl>
                                              <p:pRg st="9" end="9"/>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Effect transition="in" filter="fade">
                                      <p:cBhvr>
                                        <p:cTn id="67" dur="500"/>
                                        <p:tgtEl>
                                          <p:spTgt spid="4">
                                            <p:txEl>
                                              <p:pRg st="10" end="1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
                                            <p:txEl>
                                              <p:pRg st="12" end="12"/>
                                            </p:txEl>
                                          </p:spTgt>
                                        </p:tgtEl>
                                        <p:attrNameLst>
                                          <p:attrName>style.visibility</p:attrName>
                                        </p:attrNameLst>
                                      </p:cBhvr>
                                      <p:to>
                                        <p:strVal val="visible"/>
                                      </p:to>
                                    </p:set>
                                    <p:animEffect transition="in" filter="fade">
                                      <p:cBhvr>
                                        <p:cTn id="70"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65553-54D3-8BDC-60DE-52CC9C8F9CB1}"/>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Ferramentas de Resolução de Problemas de DNS</a:t>
            </a:r>
          </a:p>
        </p:txBody>
      </p:sp>
      <p:sp>
        <p:nvSpPr>
          <p:cNvPr id="3" name="Espaço Reservado para Conteúdo 2">
            <a:extLst>
              <a:ext uri="{FF2B5EF4-FFF2-40B4-BE49-F238E27FC236}">
                <a16:creationId xmlns:a16="http://schemas.microsoft.com/office/drawing/2014/main" id="{58B53499-30D0-295C-B1F9-5212D4CB264D}"/>
              </a:ext>
            </a:extLst>
          </p:cNvPr>
          <p:cNvSpPr>
            <a:spLocks noGrp="1"/>
          </p:cNvSpPr>
          <p:nvPr>
            <p:ph sz="half" idx="1"/>
          </p:nvPr>
        </p:nvSpPr>
        <p:spPr>
          <a:xfrm>
            <a:off x="609600" y="2088000"/>
            <a:ext cx="5181600" cy="3882448"/>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a:t>
            </a:r>
            <a:r>
              <a:rPr lang="pt-BR" sz="1800" b="1" dirty="0">
                <a:latin typeface="Arial" panose="020B0604020202020204" pitchFamily="34" charset="0"/>
                <a:cs typeface="Arial" panose="020B0604020202020204" pitchFamily="34" charset="0"/>
              </a:rPr>
              <a:t>Fundamentos de DNS</a:t>
            </a:r>
          </a:p>
          <a:p>
            <a:r>
              <a:rPr lang="pt-BR" sz="1600" dirty="0">
                <a:latin typeface="Arial" panose="020B0604020202020204" pitchFamily="34" charset="0"/>
                <a:cs typeface="Arial" panose="020B0604020202020204" pitchFamily="34" charset="0"/>
              </a:rPr>
              <a:t>Verificar a resolução de nome de domínio para endereço IP</a:t>
            </a:r>
          </a:p>
          <a:p>
            <a:r>
              <a:rPr lang="pt-BR" sz="1600" dirty="0">
                <a:latin typeface="Arial" panose="020B0604020202020204" pitchFamily="34" charset="0"/>
                <a:cs typeface="Arial" panose="020B0604020202020204" pitchFamily="34" charset="0"/>
              </a:rPr>
              <a:t>Verificar as configurações do servidor DNS</a:t>
            </a:r>
          </a:p>
          <a:p>
            <a:r>
              <a:rPr lang="pt-BR" sz="1600" dirty="0">
                <a:latin typeface="Arial" panose="020B0604020202020204" pitchFamily="34" charset="0"/>
                <a:cs typeface="Arial" panose="020B0604020202020204" pitchFamily="34" charset="0"/>
              </a:rPr>
              <a:t>Solucionar problemas de conectividade relacionados ao DNS</a:t>
            </a:r>
          </a:p>
          <a:p>
            <a:r>
              <a:rPr lang="pt-BR" sz="1600" dirty="0">
                <a:latin typeface="Arial" panose="020B0604020202020204" pitchFamily="34" charset="0"/>
                <a:cs typeface="Arial" panose="020B0604020202020204" pitchFamily="34" charset="0"/>
              </a:rPr>
              <a:t>Consultar tipos específicos de registros DNS (A, MX, CNAME)</a:t>
            </a:r>
          </a:p>
          <a:p>
            <a:pPr marL="0" indent="0" algn="ctr">
              <a:buNone/>
            </a:pPr>
            <a:r>
              <a:rPr lang="pt-BR" sz="1600" dirty="0">
                <a:solidFill>
                  <a:schemeClr val="accent2">
                    <a:lumMod val="40000"/>
                    <a:lumOff val="60000"/>
                  </a:schemeClr>
                </a:solidFill>
                <a:latin typeface="Arial" panose="020B0604020202020204" pitchFamily="34" charset="0"/>
                <a:cs typeface="Arial" panose="020B0604020202020204" pitchFamily="34" charset="0"/>
              </a:rPr>
              <a:t>nslookup</a:t>
            </a:r>
            <a:br>
              <a:rPr lang="pt-BR" sz="1600" dirty="0">
                <a:solidFill>
                  <a:schemeClr val="accent2">
                    <a:lumMod val="40000"/>
                    <a:lumOff val="60000"/>
                  </a:schemeClr>
                </a:solidFill>
                <a:latin typeface="Arial" panose="020B0604020202020204" pitchFamily="34" charset="0"/>
                <a:cs typeface="Arial" panose="020B0604020202020204" pitchFamily="34" charset="0"/>
              </a:rPr>
            </a:br>
            <a:r>
              <a:rPr lang="pt-BR" sz="1400" dirty="0">
                <a:solidFill>
                  <a:schemeClr val="accent4">
                    <a:lumMod val="40000"/>
                    <a:lumOff val="60000"/>
                  </a:schemeClr>
                </a:solidFill>
                <a:latin typeface="Arial" panose="020B0604020202020204" pitchFamily="34" charset="0"/>
                <a:cs typeface="Arial" panose="020B0604020202020204" pitchFamily="34" charset="0"/>
              </a:rPr>
              <a:t>Windows, Linux e macOS</a:t>
            </a:r>
          </a:p>
          <a:p>
            <a:pPr marL="0" indent="0" algn="ctr">
              <a:buNone/>
            </a:pPr>
            <a:r>
              <a:rPr lang="pt-BR" sz="1600" dirty="0">
                <a:solidFill>
                  <a:schemeClr val="accent2">
                    <a:lumMod val="40000"/>
                    <a:lumOff val="60000"/>
                  </a:schemeClr>
                </a:solidFill>
                <a:latin typeface="Arial" panose="020B0604020202020204" pitchFamily="34" charset="0"/>
                <a:cs typeface="Arial" panose="020B0604020202020204" pitchFamily="34" charset="0"/>
              </a:rPr>
              <a:t>dig</a:t>
            </a:r>
            <a:br>
              <a:rPr lang="pt-BR" sz="1600" dirty="0">
                <a:latin typeface="Arial" panose="020B0604020202020204" pitchFamily="34" charset="0"/>
                <a:cs typeface="Arial" panose="020B0604020202020204" pitchFamily="34" charset="0"/>
              </a:rPr>
            </a:br>
            <a:r>
              <a:rPr lang="pt-BR" sz="1400" dirty="0">
                <a:solidFill>
                  <a:schemeClr val="accent4">
                    <a:lumMod val="40000"/>
                    <a:lumOff val="60000"/>
                  </a:schemeClr>
                </a:solidFill>
                <a:latin typeface="Arial" panose="020B0604020202020204" pitchFamily="34" charset="0"/>
                <a:cs typeface="Arial" panose="020B0604020202020204" pitchFamily="34" charset="0"/>
              </a:rPr>
              <a:t>Linux e macOS (mais detalhado)</a:t>
            </a:r>
          </a:p>
          <a:p>
            <a:endParaRPr lang="pt-BR" sz="1800" dirty="0"/>
          </a:p>
        </p:txBody>
      </p:sp>
      <p:sp>
        <p:nvSpPr>
          <p:cNvPr id="4" name="Espaço Reservado para Conteúdo 3">
            <a:extLst>
              <a:ext uri="{FF2B5EF4-FFF2-40B4-BE49-F238E27FC236}">
                <a16:creationId xmlns:a16="http://schemas.microsoft.com/office/drawing/2014/main" id="{45861F01-3D2F-CA3D-D035-A77AFDE1B9F3}"/>
              </a:ext>
            </a:extLst>
          </p:cNvPr>
          <p:cNvSpPr>
            <a:spLocks noGrp="1"/>
          </p:cNvSpPr>
          <p:nvPr>
            <p:ph sz="half" idx="2"/>
          </p:nvPr>
        </p:nvSpPr>
        <p:spPr>
          <a:xfrm>
            <a:off x="6400800" y="2088000"/>
            <a:ext cx="5181600" cy="3882448"/>
          </a:xfrm>
          <a:prstGeom prst="round2Diag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Exemplos de ferramentas de DNS</a:t>
            </a:r>
          </a:p>
          <a:p>
            <a:pPr marL="0" indent="0">
              <a:buNone/>
            </a:pP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Comando básico de nslookup:</a:t>
            </a:r>
            <a:endPar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&gt;nslookup google.com</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Server:  one.one.one.one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#Cloud Flare</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  2606:4700:4700::1111</a:t>
            </a:r>
          </a:p>
          <a:p>
            <a:pPr marL="0" indent="0">
              <a:buNone/>
            </a:pPr>
            <a:endPar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Non-authoritative answer:</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Name:    google.com</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Addresses:  2800:3f0:4001:80b::200e</a:t>
            </a: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172.217.30.14</a:t>
            </a:r>
          </a:p>
        </p:txBody>
      </p:sp>
    </p:spTree>
    <p:extLst>
      <p:ext uri="{BB962C8B-B14F-4D97-AF65-F5344CB8AC3E}">
        <p14:creationId xmlns:p14="http://schemas.microsoft.com/office/powerpoint/2010/main" val="127029293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bg/>
                                          </p:spTgt>
                                        </p:tgtEl>
                                        <p:attrNameLst>
                                          <p:attrName>style.visibility</p:attrName>
                                        </p:attrNameLst>
                                      </p:cBhvr>
                                      <p:to>
                                        <p:strVal val="visible"/>
                                      </p:to>
                                    </p:set>
                                    <p:animEffect transition="in" filter="fade">
                                      <p:cBhvr>
                                        <p:cTn id="45" dur="500"/>
                                        <p:tgtEl>
                                          <p:spTgt spid="4">
                                            <p:bg/>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
                                            <p:txEl>
                                              <p:pRg st="0" end="0"/>
                                            </p:txEl>
                                          </p:spTgt>
                                        </p:tgtEl>
                                        <p:attrNameLst>
                                          <p:attrName>style.visibility</p:attrName>
                                        </p:attrNameLst>
                                      </p:cBhvr>
                                      <p:to>
                                        <p:strVal val="visible"/>
                                      </p:to>
                                    </p:set>
                                    <p:animEffect transition="in" filter="fade">
                                      <p:cBhvr>
                                        <p:cTn id="48" dur="500"/>
                                        <p:tgtEl>
                                          <p:spTgt spid="4">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Effect transition="in" filter="fade">
                                      <p:cBhvr>
                                        <p:cTn id="53" dur="500"/>
                                        <p:tgtEl>
                                          <p:spTgt spid="4">
                                            <p:txEl>
                                              <p:pRg st="1" end="1"/>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
                                            <p:txEl>
                                              <p:pRg st="2" end="2"/>
                                            </p:txEl>
                                          </p:spTgt>
                                        </p:tgtEl>
                                        <p:attrNameLst>
                                          <p:attrName>style.visibility</p:attrName>
                                        </p:attrNameLst>
                                      </p:cBhvr>
                                      <p:to>
                                        <p:strVal val="visible"/>
                                      </p:to>
                                    </p:set>
                                    <p:animEffect transition="in" filter="fade">
                                      <p:cBhvr>
                                        <p:cTn id="56" dur="500"/>
                                        <p:tgtEl>
                                          <p:spTgt spid="4">
                                            <p:txEl>
                                              <p:pRg st="2" end="2"/>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Effect transition="in" filter="fade">
                                      <p:cBhvr>
                                        <p:cTn id="59" dur="500"/>
                                        <p:tgtEl>
                                          <p:spTgt spid="4">
                                            <p:txEl>
                                              <p:pRg st="3" end="3"/>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
                                            <p:txEl>
                                              <p:pRg st="4" end="4"/>
                                            </p:txEl>
                                          </p:spTgt>
                                        </p:tgtEl>
                                        <p:attrNameLst>
                                          <p:attrName>style.visibility</p:attrName>
                                        </p:attrNameLst>
                                      </p:cBhvr>
                                      <p:to>
                                        <p:strVal val="visible"/>
                                      </p:to>
                                    </p:set>
                                    <p:animEffect transition="in" filter="fade">
                                      <p:cBhvr>
                                        <p:cTn id="62" dur="500"/>
                                        <p:tgtEl>
                                          <p:spTgt spid="4">
                                            <p:txEl>
                                              <p:pRg st="4" end="4"/>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4">
                                            <p:txEl>
                                              <p:pRg st="6" end="6"/>
                                            </p:txEl>
                                          </p:spTgt>
                                        </p:tgtEl>
                                        <p:attrNameLst>
                                          <p:attrName>style.visibility</p:attrName>
                                        </p:attrNameLst>
                                      </p:cBhvr>
                                      <p:to>
                                        <p:strVal val="visible"/>
                                      </p:to>
                                    </p:set>
                                    <p:animEffect transition="in" filter="fade">
                                      <p:cBhvr>
                                        <p:cTn id="65" dur="500"/>
                                        <p:tgtEl>
                                          <p:spTgt spid="4">
                                            <p:txEl>
                                              <p:pRg st="6" end="6"/>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
                                            <p:txEl>
                                              <p:pRg st="7" end="7"/>
                                            </p:txEl>
                                          </p:spTgt>
                                        </p:tgtEl>
                                        <p:attrNameLst>
                                          <p:attrName>style.visibility</p:attrName>
                                        </p:attrNameLst>
                                      </p:cBhvr>
                                      <p:to>
                                        <p:strVal val="visible"/>
                                      </p:to>
                                    </p:set>
                                    <p:animEffect transition="in" filter="fade">
                                      <p:cBhvr>
                                        <p:cTn id="68" dur="500"/>
                                        <p:tgtEl>
                                          <p:spTgt spid="4">
                                            <p:txEl>
                                              <p:pRg st="7" end="7"/>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
                                            <p:txEl>
                                              <p:pRg st="8" end="8"/>
                                            </p:txEl>
                                          </p:spTgt>
                                        </p:tgtEl>
                                        <p:attrNameLst>
                                          <p:attrName>style.visibility</p:attrName>
                                        </p:attrNameLst>
                                      </p:cBhvr>
                                      <p:to>
                                        <p:strVal val="visible"/>
                                      </p:to>
                                    </p:set>
                                    <p:animEffect transition="in" filter="fade">
                                      <p:cBhvr>
                                        <p:cTn id="71" dur="500"/>
                                        <p:tgtEl>
                                          <p:spTgt spid="4">
                                            <p:txEl>
                                              <p:pRg st="8" end="8"/>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
                                            <p:txEl>
                                              <p:pRg st="9" end="9"/>
                                            </p:txEl>
                                          </p:spTgt>
                                        </p:tgtEl>
                                        <p:attrNameLst>
                                          <p:attrName>style.visibility</p:attrName>
                                        </p:attrNameLst>
                                      </p:cBhvr>
                                      <p:to>
                                        <p:strVal val="visible"/>
                                      </p:to>
                                    </p:set>
                                    <p:animEffect transition="in" filter="fade">
                                      <p:cBhvr>
                                        <p:cTn id="74"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C889A-9B84-3AC7-E2EE-9BD60D0D81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208BDB-BB29-D853-6751-0C85DAD52969}"/>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Usando </a:t>
            </a:r>
            <a:r>
              <a:rPr lang="pt-BR" sz="3200" b="1" dirty="0" err="1">
                <a:latin typeface="Arial" panose="020B0604020202020204" pitchFamily="34" charset="0"/>
                <a:cs typeface="Arial" panose="020B0604020202020204" pitchFamily="34" charset="0"/>
              </a:rPr>
              <a:t>netstat</a:t>
            </a:r>
            <a:r>
              <a:rPr lang="pt-BR" sz="3200" b="1" dirty="0">
                <a:latin typeface="Arial" panose="020B0604020202020204" pitchFamily="34" charset="0"/>
                <a:cs typeface="Arial" panose="020B0604020202020204" pitchFamily="34" charset="0"/>
              </a:rPr>
              <a:t> para monitorar a Rede</a:t>
            </a:r>
          </a:p>
        </p:txBody>
      </p:sp>
      <p:sp>
        <p:nvSpPr>
          <p:cNvPr id="3" name="Espaço Reservado para Conteúdo 2">
            <a:extLst>
              <a:ext uri="{FF2B5EF4-FFF2-40B4-BE49-F238E27FC236}">
                <a16:creationId xmlns:a16="http://schemas.microsoft.com/office/drawing/2014/main" id="{35A192E3-C788-30B4-FD17-F1D8374FFF15}"/>
              </a:ext>
            </a:extLst>
          </p:cNvPr>
          <p:cNvSpPr>
            <a:spLocks noGrp="1"/>
          </p:cNvSpPr>
          <p:nvPr>
            <p:ph sz="half" idx="1"/>
          </p:nvPr>
        </p:nvSpPr>
        <p:spPr>
          <a:xfrm>
            <a:off x="609600" y="2088000"/>
            <a:ext cx="5181600" cy="3142368"/>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a:t>
            </a:r>
            <a:r>
              <a:rPr lang="pt-BR" sz="1800" b="1" dirty="0">
                <a:latin typeface="Arial" panose="020B0604020202020204" pitchFamily="34" charset="0"/>
                <a:cs typeface="Arial" panose="020B0604020202020204" pitchFamily="34" charset="0"/>
              </a:rPr>
              <a:t>Fundamentos de </a:t>
            </a:r>
            <a:r>
              <a:rPr lang="pt-BR" sz="1800" b="1" dirty="0" err="1">
                <a:latin typeface="Arial" panose="020B0604020202020204" pitchFamily="34" charset="0"/>
                <a:cs typeface="Arial" panose="020B0604020202020204" pitchFamily="34" charset="0"/>
              </a:rPr>
              <a:t>netstat</a:t>
            </a:r>
            <a:endParaRPr lang="pt-BR" sz="1800" b="1" dirty="0">
              <a:latin typeface="Arial" panose="020B0604020202020204" pitchFamily="34" charset="0"/>
              <a:cs typeface="Arial" panose="020B0604020202020204" pitchFamily="34" charset="0"/>
            </a:endParaRPr>
          </a:p>
          <a:p>
            <a:r>
              <a:rPr lang="pt-BR" sz="1600" dirty="0">
                <a:latin typeface="Arial" panose="020B0604020202020204" pitchFamily="34" charset="0"/>
                <a:cs typeface="Arial" panose="020B0604020202020204" pitchFamily="34" charset="0"/>
              </a:rPr>
              <a:t>Verificar conexões ativas no sistema</a:t>
            </a:r>
          </a:p>
          <a:p>
            <a:r>
              <a:rPr lang="pt-BR" sz="1600" dirty="0">
                <a:latin typeface="Arial" panose="020B0604020202020204" pitchFamily="34" charset="0"/>
                <a:cs typeface="Arial" panose="020B0604020202020204" pitchFamily="34" charset="0"/>
              </a:rPr>
              <a:t>Identificar portas abertas e serviços em execução</a:t>
            </a:r>
          </a:p>
          <a:p>
            <a:r>
              <a:rPr lang="pt-BR" sz="1600" dirty="0">
                <a:latin typeface="Arial" panose="020B0604020202020204" pitchFamily="34" charset="0"/>
                <a:cs typeface="Arial" panose="020B0604020202020204" pitchFamily="34" charset="0"/>
              </a:rPr>
              <a:t>Diagnosticar problemas de comunicação entre aplicações</a:t>
            </a:r>
          </a:p>
          <a:p>
            <a:pPr marL="0" indent="0" algn="ctr">
              <a:buNone/>
            </a:pPr>
            <a:r>
              <a:rPr lang="pt-BR" sz="1600" dirty="0" err="1">
                <a:solidFill>
                  <a:schemeClr val="accent2">
                    <a:lumMod val="40000"/>
                    <a:lumOff val="60000"/>
                  </a:schemeClr>
                </a:solidFill>
                <a:latin typeface="Arial" panose="020B0604020202020204" pitchFamily="34" charset="0"/>
                <a:cs typeface="Arial" panose="020B0604020202020204" pitchFamily="34" charset="0"/>
              </a:rPr>
              <a:t>netstat</a:t>
            </a:r>
            <a:r>
              <a:rPr lang="pt-BR" sz="1600" dirty="0">
                <a:solidFill>
                  <a:schemeClr val="accent2">
                    <a:lumMod val="40000"/>
                    <a:lumOff val="60000"/>
                  </a:schemeClr>
                </a:solidFill>
                <a:latin typeface="Arial" panose="020B0604020202020204" pitchFamily="34" charset="0"/>
                <a:cs typeface="Arial" panose="020B0604020202020204" pitchFamily="34" charset="0"/>
              </a:rPr>
              <a:t> -</a:t>
            </a:r>
            <a:r>
              <a:rPr lang="pt-BR" sz="1600" dirty="0" err="1">
                <a:solidFill>
                  <a:schemeClr val="accent2">
                    <a:lumMod val="40000"/>
                    <a:lumOff val="60000"/>
                  </a:schemeClr>
                </a:solidFill>
                <a:latin typeface="Arial" panose="020B0604020202020204" pitchFamily="34" charset="0"/>
                <a:cs typeface="Arial" panose="020B0604020202020204" pitchFamily="34" charset="0"/>
              </a:rPr>
              <a:t>an</a:t>
            </a:r>
            <a:br>
              <a:rPr lang="pt-BR" sz="1600" dirty="0">
                <a:solidFill>
                  <a:schemeClr val="accent2">
                    <a:lumMod val="40000"/>
                    <a:lumOff val="60000"/>
                  </a:schemeClr>
                </a:solidFill>
                <a:latin typeface="Arial" panose="020B0604020202020204" pitchFamily="34" charset="0"/>
                <a:cs typeface="Arial" panose="020B0604020202020204" pitchFamily="34" charset="0"/>
              </a:rPr>
            </a:br>
            <a:r>
              <a:rPr lang="pt-BR" sz="1400" dirty="0">
                <a:solidFill>
                  <a:schemeClr val="accent4">
                    <a:lumMod val="40000"/>
                    <a:lumOff val="60000"/>
                  </a:schemeClr>
                </a:solidFill>
                <a:latin typeface="Arial" panose="020B0604020202020204" pitchFamily="34" charset="0"/>
                <a:cs typeface="Arial" panose="020B0604020202020204" pitchFamily="34" charset="0"/>
              </a:rPr>
              <a:t>Windows, Linux e macOS</a:t>
            </a:r>
          </a:p>
        </p:txBody>
      </p:sp>
      <p:sp>
        <p:nvSpPr>
          <p:cNvPr id="4" name="Espaço Reservado para Conteúdo 3">
            <a:extLst>
              <a:ext uri="{FF2B5EF4-FFF2-40B4-BE49-F238E27FC236}">
                <a16:creationId xmlns:a16="http://schemas.microsoft.com/office/drawing/2014/main" id="{651F2647-80B9-492F-A449-D9025B216210}"/>
              </a:ext>
            </a:extLst>
          </p:cNvPr>
          <p:cNvSpPr>
            <a:spLocks noGrp="1"/>
          </p:cNvSpPr>
          <p:nvPr>
            <p:ph sz="half" idx="2"/>
          </p:nvPr>
        </p:nvSpPr>
        <p:spPr>
          <a:xfrm>
            <a:off x="6400800" y="2088000"/>
            <a:ext cx="5181600" cy="3142368"/>
          </a:xfrm>
          <a:prstGeom prst="round2Diag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Exemplo de </a:t>
            </a:r>
            <a:r>
              <a:rPr lang="pt-BR" sz="1800" b="1" dirty="0" err="1">
                <a:latin typeface="Arial" panose="020B0604020202020204" pitchFamily="34" charset="0"/>
                <a:cs typeface="Arial" panose="020B0604020202020204" pitchFamily="34" charset="0"/>
              </a:rPr>
              <a:t>netstat</a:t>
            </a:r>
            <a:endParaRPr lang="pt-BR" sz="1800" b="1" dirty="0">
              <a:latin typeface="Arial" panose="020B0604020202020204" pitchFamily="34" charset="0"/>
              <a:cs typeface="Arial" panose="020B0604020202020204" pitchFamily="34" charset="0"/>
            </a:endParaRPr>
          </a:p>
          <a:p>
            <a:pPr marL="0" indent="0">
              <a:buNone/>
            </a:pP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Comando básico de </a:t>
            </a:r>
            <a:r>
              <a:rPr lang="pt-BR" sz="1000" dirty="0" err="1">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netstat</a:t>
            </a: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t>
            </a:r>
            <a:endPar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en-GB"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&gt;netstat -an</a:t>
            </a:r>
            <a:br>
              <a:rPr lang="en-GB" sz="1000" dirty="0">
                <a:latin typeface="Cascadia Code" panose="020B0609020000020004" pitchFamily="49" charset="0"/>
                <a:ea typeface="Cascadia Code" panose="020B0609020000020004" pitchFamily="49" charset="0"/>
                <a:cs typeface="Cascadia Code" panose="020B0609020000020004" pitchFamily="49" charset="0"/>
              </a:rPr>
            </a:br>
            <a:br>
              <a:rPr lang="en-GB"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br>
            <a:r>
              <a:rPr lang="en-GB"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Proto  Local Address     Foreign Address    State</a:t>
            </a:r>
          </a:p>
          <a:p>
            <a:pPr marL="0" indent="0">
              <a:buNone/>
            </a:pPr>
            <a:r>
              <a:rPr lang="en-GB"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TCP    127.0.0.1:80      0.0.0.0:0           LISTENING</a:t>
            </a:r>
          </a:p>
          <a:p>
            <a:pPr marL="0" indent="0">
              <a:buNone/>
            </a:pPr>
            <a:r>
              <a:rPr lang="en-GB"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TCP    192.168.0.10:443  172.217.29.78:52345 ESTABLISHED</a:t>
            </a:r>
          </a:p>
          <a:p>
            <a:pPr marL="0" indent="0">
              <a:buNone/>
            </a:pPr>
            <a:r>
              <a:rPr lang="en-GB"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TCP    127.0.0.1:10692   127.0.0.1:64546     TIME_WAIT</a:t>
            </a:r>
            <a:endPar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en-GB"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TCP    192.168.15.6:10216 89.161.251.28:443  CLOSE_WAIT</a:t>
            </a:r>
          </a:p>
        </p:txBody>
      </p:sp>
    </p:spTree>
    <p:extLst>
      <p:ext uri="{BB962C8B-B14F-4D97-AF65-F5344CB8AC3E}">
        <p14:creationId xmlns:p14="http://schemas.microsoft.com/office/powerpoint/2010/main" val="27750521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bg/>
                                          </p:spTgt>
                                        </p:tgtEl>
                                        <p:attrNameLst>
                                          <p:attrName>style.visibility</p:attrName>
                                        </p:attrNameLst>
                                      </p:cBhvr>
                                      <p:to>
                                        <p:strVal val="visible"/>
                                      </p:to>
                                    </p:set>
                                    <p:animEffect transition="in" filter="fade">
                                      <p:cBhvr>
                                        <p:cTn id="35" dur="500"/>
                                        <p:tgtEl>
                                          <p:spTgt spid="4">
                                            <p:bg/>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animEffect transition="in" filter="fade">
                                      <p:cBhvr>
                                        <p:cTn id="38" dur="500"/>
                                        <p:tgtEl>
                                          <p:spTgt spid="4">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1" end="1"/>
                                            </p:txEl>
                                          </p:spTgt>
                                        </p:tgtEl>
                                        <p:attrNameLst>
                                          <p:attrName>style.visibility</p:attrName>
                                        </p:attrNameLst>
                                      </p:cBhvr>
                                      <p:to>
                                        <p:strVal val="visible"/>
                                      </p:to>
                                    </p:set>
                                    <p:animEffect transition="in" filter="fade">
                                      <p:cBhvr>
                                        <p:cTn id="43"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D0B4D-8BE3-C66D-6F9F-11ADDF60EB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D47C84-E8A0-9210-61ED-2993823DE305}"/>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t>Ferramenta de Configuração de Rede</a:t>
            </a:r>
            <a:endParaRPr lang="pt-BR" sz="3200"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A39CC4A1-1007-5C35-8553-A87EDFF4FF07}"/>
              </a:ext>
            </a:extLst>
          </p:cNvPr>
          <p:cNvSpPr>
            <a:spLocks noGrp="1"/>
          </p:cNvSpPr>
          <p:nvPr>
            <p:ph sz="half" idx="1"/>
          </p:nvPr>
        </p:nvSpPr>
        <p:spPr>
          <a:xfrm>
            <a:off x="609600" y="2088000"/>
            <a:ext cx="5181600" cy="3517272"/>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fontScale="92500"/>
          </a:bodyPr>
          <a:lstStyle/>
          <a:p>
            <a:pPr marL="0" indent="0" algn="ctr">
              <a:buNone/>
            </a:pPr>
            <a:r>
              <a:rPr lang="en-GB" sz="1800" b="1" dirty="0">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 </a:t>
            </a:r>
            <a:r>
              <a:rPr lang="pt-BR" sz="1800" b="1" dirty="0">
                <a:latin typeface="Arial" panose="020B0604020202020204" pitchFamily="34" charset="0"/>
                <a:cs typeface="Arial" panose="020B0604020202020204" pitchFamily="34" charset="0"/>
              </a:rPr>
              <a:t>Fundamentos de </a:t>
            </a:r>
            <a:r>
              <a:rPr lang="pt-BR" sz="1800" b="1" dirty="0" err="1">
                <a:latin typeface="Arial" panose="020B0604020202020204" pitchFamily="34" charset="0"/>
                <a:cs typeface="Arial" panose="020B0604020202020204" pitchFamily="34" charset="0"/>
              </a:rPr>
              <a:t>ipconfig</a:t>
            </a:r>
            <a:endParaRPr lang="pt-BR" sz="1800" b="1" dirty="0">
              <a:latin typeface="Arial" panose="020B0604020202020204" pitchFamily="34" charset="0"/>
              <a:cs typeface="Arial" panose="020B0604020202020204" pitchFamily="34" charset="0"/>
            </a:endParaRPr>
          </a:p>
          <a:p>
            <a:r>
              <a:rPr lang="pt-BR" sz="1700" dirty="0">
                <a:latin typeface="Arial" panose="020B0604020202020204" pitchFamily="34" charset="0"/>
                <a:cs typeface="Arial" panose="020B0604020202020204" pitchFamily="34" charset="0"/>
              </a:rPr>
              <a:t>Visualizar configurações de IP do dispositivo</a:t>
            </a:r>
          </a:p>
          <a:p>
            <a:r>
              <a:rPr lang="pt-BR" sz="1700" dirty="0">
                <a:latin typeface="Arial" panose="020B0604020202020204" pitchFamily="34" charset="0"/>
                <a:cs typeface="Arial" panose="020B0604020202020204" pitchFamily="34" charset="0"/>
              </a:rPr>
              <a:t>Verificar gateway padrão e DNS</a:t>
            </a:r>
          </a:p>
          <a:p>
            <a:r>
              <a:rPr lang="pt-BR" sz="1700" dirty="0">
                <a:latin typeface="Arial" panose="020B0604020202020204" pitchFamily="34" charset="0"/>
                <a:cs typeface="Arial" panose="020B0604020202020204" pitchFamily="34" charset="0"/>
              </a:rPr>
              <a:t>Renovar ou liberar endereço IP</a:t>
            </a:r>
          </a:p>
          <a:p>
            <a:r>
              <a:rPr lang="pt-BR" sz="1700" dirty="0">
                <a:latin typeface="Arial" panose="020B0604020202020204" pitchFamily="34" charset="0"/>
                <a:cs typeface="Arial" panose="020B0604020202020204" pitchFamily="34" charset="0"/>
              </a:rPr>
              <a:t>Diagnosticar problemas de configuração de rede</a:t>
            </a:r>
          </a:p>
          <a:p>
            <a:pPr marL="0" indent="0" algn="ctr">
              <a:buNone/>
            </a:pPr>
            <a:r>
              <a:rPr lang="pt-BR" sz="1700" dirty="0" err="1">
                <a:solidFill>
                  <a:schemeClr val="accent2">
                    <a:lumMod val="40000"/>
                    <a:lumOff val="60000"/>
                  </a:schemeClr>
                </a:solidFill>
                <a:latin typeface="Arial" panose="020B0604020202020204" pitchFamily="34" charset="0"/>
                <a:cs typeface="Arial" panose="020B0604020202020204" pitchFamily="34" charset="0"/>
              </a:rPr>
              <a:t>ipconfig</a:t>
            </a:r>
            <a:br>
              <a:rPr lang="pt-BR" sz="1700" dirty="0">
                <a:solidFill>
                  <a:schemeClr val="accent2">
                    <a:lumMod val="40000"/>
                    <a:lumOff val="60000"/>
                  </a:schemeClr>
                </a:solidFill>
                <a:latin typeface="Arial" panose="020B0604020202020204" pitchFamily="34" charset="0"/>
                <a:cs typeface="Arial" panose="020B0604020202020204" pitchFamily="34" charset="0"/>
              </a:rPr>
            </a:br>
            <a:r>
              <a:rPr lang="pt-BR" sz="1500" dirty="0">
                <a:solidFill>
                  <a:schemeClr val="accent4">
                    <a:lumMod val="40000"/>
                    <a:lumOff val="60000"/>
                  </a:schemeClr>
                </a:solidFill>
                <a:latin typeface="Arial" panose="020B0604020202020204" pitchFamily="34" charset="0"/>
                <a:cs typeface="Arial" panose="020B0604020202020204" pitchFamily="34" charset="0"/>
              </a:rPr>
              <a:t>Windows</a:t>
            </a:r>
          </a:p>
          <a:p>
            <a:pPr marL="0" indent="0" algn="ctr">
              <a:buNone/>
            </a:pPr>
            <a:r>
              <a:rPr lang="pt-BR" sz="1700" dirty="0" err="1">
                <a:solidFill>
                  <a:schemeClr val="accent2">
                    <a:lumMod val="40000"/>
                    <a:lumOff val="60000"/>
                  </a:schemeClr>
                </a:solidFill>
                <a:latin typeface="Arial" panose="020B0604020202020204" pitchFamily="34" charset="0"/>
                <a:cs typeface="Arial" panose="020B0604020202020204" pitchFamily="34" charset="0"/>
              </a:rPr>
              <a:t>ifconfig</a:t>
            </a:r>
            <a:br>
              <a:rPr lang="pt-BR" sz="1600" dirty="0">
                <a:latin typeface="Arial" panose="020B0604020202020204" pitchFamily="34" charset="0"/>
                <a:cs typeface="Arial" panose="020B0604020202020204" pitchFamily="34" charset="0"/>
              </a:rPr>
            </a:br>
            <a:r>
              <a:rPr lang="pt-BR" sz="1500" dirty="0">
                <a:solidFill>
                  <a:schemeClr val="accent4">
                    <a:lumMod val="40000"/>
                    <a:lumOff val="60000"/>
                  </a:schemeClr>
                </a:solidFill>
                <a:latin typeface="Arial" panose="020B0604020202020204" pitchFamily="34" charset="0"/>
                <a:cs typeface="Arial" panose="020B0604020202020204" pitchFamily="34" charset="0"/>
              </a:rPr>
              <a:t>Linux e macOS</a:t>
            </a:r>
            <a:endParaRPr lang="pt-BR" sz="1500" dirty="0"/>
          </a:p>
        </p:txBody>
      </p:sp>
      <p:sp>
        <p:nvSpPr>
          <p:cNvPr id="4" name="Espaço Reservado para Conteúdo 3">
            <a:extLst>
              <a:ext uri="{FF2B5EF4-FFF2-40B4-BE49-F238E27FC236}">
                <a16:creationId xmlns:a16="http://schemas.microsoft.com/office/drawing/2014/main" id="{1D7DAFE2-903C-7F46-9A1F-1F42CD8546A3}"/>
              </a:ext>
            </a:extLst>
          </p:cNvPr>
          <p:cNvSpPr>
            <a:spLocks noGrp="1"/>
          </p:cNvSpPr>
          <p:nvPr>
            <p:ph sz="half" idx="2"/>
          </p:nvPr>
        </p:nvSpPr>
        <p:spPr>
          <a:xfrm>
            <a:off x="6400800" y="2088000"/>
            <a:ext cx="5181600" cy="3517272"/>
          </a:xfrm>
          <a:prstGeom prst="round2DiagRect">
            <a:avLst/>
          </a:prstGeom>
          <a:solidFill>
            <a:schemeClr val="tx2">
              <a:lumMod val="10000"/>
            </a:schemeClr>
          </a:solidFill>
          <a:effectLst>
            <a:outerShdw blurRad="50800" dist="63500" dir="2700000" algn="tl" rotWithShape="0">
              <a:prstClr val="black">
                <a:alpha val="40000"/>
              </a:prstClr>
            </a:outerShdw>
          </a:effectLst>
        </p:spPr>
        <p:txBody>
          <a:bodyPr>
            <a:normAutofit fontScale="92500"/>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Exemplo de </a:t>
            </a:r>
            <a:r>
              <a:rPr lang="pt-BR" sz="1800" b="1" dirty="0" err="1">
                <a:latin typeface="Arial" panose="020B0604020202020204" pitchFamily="34" charset="0"/>
                <a:cs typeface="Arial" panose="020B0604020202020204" pitchFamily="34" charset="0"/>
              </a:rPr>
              <a:t>ipconfig</a:t>
            </a:r>
            <a:endParaRPr lang="pt-BR" sz="1800" b="1" dirty="0">
              <a:latin typeface="Arial" panose="020B0604020202020204" pitchFamily="34" charset="0"/>
              <a:cs typeface="Arial" panose="020B0604020202020204" pitchFamily="34" charset="0"/>
            </a:endParaRPr>
          </a:p>
          <a:p>
            <a:pPr marL="0" indent="0">
              <a:buNone/>
            </a:pP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Comando básico de </a:t>
            </a:r>
            <a:r>
              <a:rPr lang="pt-BR" sz="1000" dirty="0" err="1">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ipconfig</a:t>
            </a:r>
            <a:r>
              <a:rPr lang="pt-BR" sz="1000" dirty="0">
                <a:solidFill>
                  <a:schemeClr val="accent4">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t>
            </a:r>
            <a:endPar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&gt;</a:t>
            </a:r>
            <a:r>
              <a:rPr lang="pt-BR" sz="1000" dirty="0" err="1">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ipconfig</a:t>
            </a:r>
            <a:endParaRPr lang="pt-BR" sz="1000" dirty="0">
              <a:solidFill>
                <a:schemeClr val="accent2">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Ethernet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adapter</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Ethernet:</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IPv6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 . . . .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2804:7f0:9282:3d2f:4d51:72ed:****</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Temporary</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IPv6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2804:7f0:9282:3d2f:6582:f69a:*</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Link-local IPv6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fe80::d943:50cc:9426:94c3%10</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IPv4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Address</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 . . . .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192.168.15.6</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Subnet</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err="1">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Mask</a:t>
            </a: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 . . . . .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255.255.255.0</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Default Gateway . . . . . . . . . :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fe80::aec6:62ff:fe89:7949%10</a:t>
            </a:r>
          </a:p>
          <a:p>
            <a:pPr marL="0" indent="0">
              <a:buNone/>
            </a:pPr>
            <a:r>
              <a:rPr lang="pt-BR" sz="1000" dirty="0">
                <a:solidFill>
                  <a:schemeClr val="accent5">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                                       </a:t>
            </a:r>
            <a:r>
              <a:rPr lang="pt-BR" sz="1000" dirty="0">
                <a:solidFill>
                  <a:schemeClr val="accent6">
                    <a:lumMod val="40000"/>
                    <a:lumOff val="60000"/>
                  </a:schemeClr>
                </a:solidFill>
                <a:latin typeface="Cascadia Code" panose="020B0609020000020004" pitchFamily="49" charset="0"/>
                <a:ea typeface="Cascadia Code" panose="020B0609020000020004" pitchFamily="49" charset="0"/>
                <a:cs typeface="Cascadia Code" panose="020B0609020000020004" pitchFamily="49" charset="0"/>
              </a:rPr>
              <a:t>192.168.15.1</a:t>
            </a:r>
          </a:p>
        </p:txBody>
      </p:sp>
    </p:spTree>
    <p:extLst>
      <p:ext uri="{BB962C8B-B14F-4D97-AF65-F5344CB8AC3E}">
        <p14:creationId xmlns:p14="http://schemas.microsoft.com/office/powerpoint/2010/main" val="339246081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bg/>
                                          </p:spTgt>
                                        </p:tgtEl>
                                        <p:attrNameLst>
                                          <p:attrName>style.visibility</p:attrName>
                                        </p:attrNameLst>
                                      </p:cBhvr>
                                      <p:to>
                                        <p:strVal val="visible"/>
                                      </p:to>
                                    </p:set>
                                    <p:animEffect transition="in" filter="fade">
                                      <p:cBhvr>
                                        <p:cTn id="47" dur="500"/>
                                        <p:tgtEl>
                                          <p:spTgt spid="4">
                                            <p:bg/>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xEl>
                                              <p:pRg st="0" end="0"/>
                                            </p:txEl>
                                          </p:spTgt>
                                        </p:tgtEl>
                                        <p:attrNameLst>
                                          <p:attrName>style.visibility</p:attrName>
                                        </p:attrNameLst>
                                      </p:cBhvr>
                                      <p:to>
                                        <p:strVal val="visible"/>
                                      </p:to>
                                    </p:set>
                                    <p:animEffect transition="in" filter="fade">
                                      <p:cBhvr>
                                        <p:cTn id="50" dur="500"/>
                                        <p:tgtEl>
                                          <p:spTgt spid="4">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4">
                                            <p:txEl>
                                              <p:pRg st="1" end="1"/>
                                            </p:txEl>
                                          </p:spTgt>
                                        </p:tgtEl>
                                        <p:attrNameLst>
                                          <p:attrName>style.visibility</p:attrName>
                                        </p:attrNameLst>
                                      </p:cBhvr>
                                      <p:to>
                                        <p:strVal val="visible"/>
                                      </p:to>
                                    </p:set>
                                    <p:animEffect transition="in" filter="fade">
                                      <p:cBhvr>
                                        <p:cTn id="55" dur="500"/>
                                        <p:tgtEl>
                                          <p:spTgt spid="4">
                                            <p:txEl>
                                              <p:pRg st="1" end="1"/>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
                                            <p:txEl>
                                              <p:pRg st="2" end="2"/>
                                            </p:txEl>
                                          </p:spTgt>
                                        </p:tgtEl>
                                        <p:attrNameLst>
                                          <p:attrName>style.visibility</p:attrName>
                                        </p:attrNameLst>
                                      </p:cBhvr>
                                      <p:to>
                                        <p:strVal val="visible"/>
                                      </p:to>
                                    </p:set>
                                    <p:animEffect transition="in" filter="fade">
                                      <p:cBhvr>
                                        <p:cTn id="58" dur="500"/>
                                        <p:tgtEl>
                                          <p:spTgt spid="4">
                                            <p:txEl>
                                              <p:pRg st="2" end="2"/>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
                                            <p:txEl>
                                              <p:pRg st="3" end="3"/>
                                            </p:txEl>
                                          </p:spTgt>
                                        </p:tgtEl>
                                        <p:attrNameLst>
                                          <p:attrName>style.visibility</p:attrName>
                                        </p:attrNameLst>
                                      </p:cBhvr>
                                      <p:to>
                                        <p:strVal val="visible"/>
                                      </p:to>
                                    </p:set>
                                    <p:animEffect transition="in" filter="fade">
                                      <p:cBhvr>
                                        <p:cTn id="61" dur="500"/>
                                        <p:tgtEl>
                                          <p:spTgt spid="4">
                                            <p:txEl>
                                              <p:pRg st="3" end="3"/>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
                                            <p:txEl>
                                              <p:pRg st="4" end="4"/>
                                            </p:txEl>
                                          </p:spTgt>
                                        </p:tgtEl>
                                        <p:attrNameLst>
                                          <p:attrName>style.visibility</p:attrName>
                                        </p:attrNameLst>
                                      </p:cBhvr>
                                      <p:to>
                                        <p:strVal val="visible"/>
                                      </p:to>
                                    </p:set>
                                    <p:animEffect transition="in" filter="fade">
                                      <p:cBhvr>
                                        <p:cTn id="64" dur="500"/>
                                        <p:tgtEl>
                                          <p:spTgt spid="4">
                                            <p:txEl>
                                              <p:pRg st="4" end="4"/>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
                                            <p:txEl>
                                              <p:pRg st="5" end="5"/>
                                            </p:txEl>
                                          </p:spTgt>
                                        </p:tgtEl>
                                        <p:attrNameLst>
                                          <p:attrName>style.visibility</p:attrName>
                                        </p:attrNameLst>
                                      </p:cBhvr>
                                      <p:to>
                                        <p:strVal val="visible"/>
                                      </p:to>
                                    </p:set>
                                    <p:animEffect transition="in" filter="fade">
                                      <p:cBhvr>
                                        <p:cTn id="67" dur="500"/>
                                        <p:tgtEl>
                                          <p:spTgt spid="4">
                                            <p:txEl>
                                              <p:pRg st="5" end="5"/>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
                                            <p:txEl>
                                              <p:pRg st="6" end="6"/>
                                            </p:txEl>
                                          </p:spTgt>
                                        </p:tgtEl>
                                        <p:attrNameLst>
                                          <p:attrName>style.visibility</p:attrName>
                                        </p:attrNameLst>
                                      </p:cBhvr>
                                      <p:to>
                                        <p:strVal val="visible"/>
                                      </p:to>
                                    </p:set>
                                    <p:animEffect transition="in" filter="fade">
                                      <p:cBhvr>
                                        <p:cTn id="70" dur="500"/>
                                        <p:tgtEl>
                                          <p:spTgt spid="4">
                                            <p:txEl>
                                              <p:pRg st="6" end="6"/>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
                                            <p:txEl>
                                              <p:pRg st="7" end="7"/>
                                            </p:txEl>
                                          </p:spTgt>
                                        </p:tgtEl>
                                        <p:attrNameLst>
                                          <p:attrName>style.visibility</p:attrName>
                                        </p:attrNameLst>
                                      </p:cBhvr>
                                      <p:to>
                                        <p:strVal val="visible"/>
                                      </p:to>
                                    </p:set>
                                    <p:animEffect transition="in" filter="fade">
                                      <p:cBhvr>
                                        <p:cTn id="73" dur="500"/>
                                        <p:tgtEl>
                                          <p:spTgt spid="4">
                                            <p:txEl>
                                              <p:pRg st="7" end="7"/>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
                                            <p:txEl>
                                              <p:pRg st="8" end="8"/>
                                            </p:txEl>
                                          </p:spTgt>
                                        </p:tgtEl>
                                        <p:attrNameLst>
                                          <p:attrName>style.visibility</p:attrName>
                                        </p:attrNameLst>
                                      </p:cBhvr>
                                      <p:to>
                                        <p:strVal val="visible"/>
                                      </p:to>
                                    </p:set>
                                    <p:animEffect transition="in" filter="fade">
                                      <p:cBhvr>
                                        <p:cTn id="76" dur="500"/>
                                        <p:tgtEl>
                                          <p:spTgt spid="4">
                                            <p:txEl>
                                              <p:pRg st="8" end="8"/>
                                            </p:tx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
                                            <p:txEl>
                                              <p:pRg st="9" end="9"/>
                                            </p:txEl>
                                          </p:spTgt>
                                        </p:tgtEl>
                                        <p:attrNameLst>
                                          <p:attrName>style.visibility</p:attrName>
                                        </p:attrNameLst>
                                      </p:cBhvr>
                                      <p:to>
                                        <p:strVal val="visible"/>
                                      </p:to>
                                    </p:set>
                                    <p:animEffect transition="in" filter="fade">
                                      <p:cBhvr>
                                        <p:cTn id="79" dur="500"/>
                                        <p:tgtEl>
                                          <p:spTgt spid="4">
                                            <p:txEl>
                                              <p:pRg st="9" end="9"/>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
                                            <p:txEl>
                                              <p:pRg st="10" end="10"/>
                                            </p:txEl>
                                          </p:spTgt>
                                        </p:tgtEl>
                                        <p:attrNameLst>
                                          <p:attrName>style.visibility</p:attrName>
                                        </p:attrNameLst>
                                      </p:cBhvr>
                                      <p:to>
                                        <p:strVal val="visible"/>
                                      </p:to>
                                    </p:set>
                                    <p:animEffect transition="in" filter="fade">
                                      <p:cBhvr>
                                        <p:cTn id="8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6C5F-CEAD-1577-56AA-986D328141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76F1CE-4F87-0A6F-9AFF-2928F1DEC9F2}"/>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Análise de pacotes com </a:t>
            </a:r>
            <a:r>
              <a:rPr lang="pt-BR" sz="3200" b="1" dirty="0" err="1">
                <a:latin typeface="Arial" panose="020B0604020202020204" pitchFamily="34" charset="0"/>
                <a:cs typeface="Arial" panose="020B0604020202020204" pitchFamily="34" charset="0"/>
              </a:rPr>
              <a:t>Wireshark</a:t>
            </a:r>
            <a:endParaRPr lang="pt-BR" sz="3200"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4010B85F-4B93-8E72-AEE9-B23F624FC7DF}"/>
              </a:ext>
            </a:extLst>
          </p:cNvPr>
          <p:cNvSpPr>
            <a:spLocks noGrp="1"/>
          </p:cNvSpPr>
          <p:nvPr>
            <p:ph sz="half" idx="1"/>
          </p:nvPr>
        </p:nvSpPr>
        <p:spPr>
          <a:xfrm>
            <a:off x="609600" y="2088000"/>
            <a:ext cx="5181600" cy="4351338"/>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Capabilidades do Wireshark</a:t>
            </a:r>
          </a:p>
          <a:p>
            <a:r>
              <a:rPr lang="pt-BR" sz="1600" dirty="0">
                <a:latin typeface="Arial" panose="020B0604020202020204" pitchFamily="34" charset="0"/>
                <a:cs typeface="Arial" panose="020B0604020202020204" pitchFamily="34" charset="0"/>
              </a:rPr>
              <a:t>Captura e analisa o tráfego de rede em tempo real</a:t>
            </a:r>
          </a:p>
          <a:p>
            <a:r>
              <a:rPr lang="pt-BR" sz="1600" dirty="0">
                <a:latin typeface="Arial" panose="020B0604020202020204" pitchFamily="34" charset="0"/>
                <a:cs typeface="Arial" panose="020B0604020202020204" pitchFamily="34" charset="0"/>
              </a:rPr>
              <a:t>Inspeção profunda de pacotes em múltiplos protocolos</a:t>
            </a:r>
          </a:p>
          <a:p>
            <a:r>
              <a:rPr lang="pt-BR" sz="1600" dirty="0">
                <a:latin typeface="Arial" panose="020B0604020202020204" pitchFamily="34" charset="0"/>
                <a:cs typeface="Arial" panose="020B0604020202020204" pitchFamily="34" charset="0"/>
              </a:rPr>
              <a:t>Visualização de pacotes com código de cores</a:t>
            </a:r>
          </a:p>
          <a:p>
            <a:r>
              <a:rPr lang="pt-BR" sz="1600" dirty="0">
                <a:latin typeface="Arial" panose="020B0604020202020204" pitchFamily="34" charset="0"/>
                <a:cs typeface="Arial" panose="020B0604020202020204" pitchFamily="34" charset="0"/>
              </a:rPr>
              <a:t>Soluciona problemas complexos de rede</a:t>
            </a:r>
          </a:p>
          <a:p>
            <a:r>
              <a:rPr lang="pt-BR" sz="1600" dirty="0">
                <a:latin typeface="Arial" panose="020B0604020202020204" pitchFamily="34" charset="0"/>
                <a:cs typeface="Arial" panose="020B0604020202020204" pitchFamily="34" charset="0"/>
              </a:rPr>
              <a:t>Identifica padrões de tráfego maliciosos</a:t>
            </a:r>
          </a:p>
        </p:txBody>
      </p:sp>
      <p:sp>
        <p:nvSpPr>
          <p:cNvPr id="4" name="Espaço Reservado para Conteúdo 3">
            <a:extLst>
              <a:ext uri="{FF2B5EF4-FFF2-40B4-BE49-F238E27FC236}">
                <a16:creationId xmlns:a16="http://schemas.microsoft.com/office/drawing/2014/main" id="{D2D3ED56-6836-7A98-2BFA-780F4DA81460}"/>
              </a:ext>
            </a:extLst>
          </p:cNvPr>
          <p:cNvSpPr>
            <a:spLocks noGrp="1"/>
          </p:cNvSpPr>
          <p:nvPr>
            <p:ph sz="half" idx="2"/>
          </p:nvPr>
        </p:nvSpPr>
        <p:spPr>
          <a:xfrm>
            <a:off x="6400800" y="2088000"/>
            <a:ext cx="5181600" cy="4351338"/>
          </a:xfrm>
          <a:prstGeom prst="round2Same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Interface do Wireshark</a:t>
            </a:r>
          </a:p>
        </p:txBody>
      </p:sp>
      <p:pic>
        <p:nvPicPr>
          <p:cNvPr id="7" name="Picture 6" descr="Screenshot of Wireshark network protocol analyzer displaying captured Ethernet packets with columns for packet number, time, source, destination, protocol, and length info. Highlighted rows show various protocols including UDP, ICMPv6, and TCP with details like packet lengths, source/destination IPs, and specific flags, illustrating network traffic analysis and troubleshooting.">
            <a:extLst>
              <a:ext uri="{FF2B5EF4-FFF2-40B4-BE49-F238E27FC236}">
                <a16:creationId xmlns:a16="http://schemas.microsoft.com/office/drawing/2014/main" id="{D6E3B1A0-EF5E-C5A8-6ECF-9E2C9C9F33E1}"/>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8805" y="2646041"/>
            <a:ext cx="4785590" cy="3710309"/>
          </a:xfrm>
          <a:prstGeom prst="rect">
            <a:avLst/>
          </a:prstGeom>
          <a:ln>
            <a:noFill/>
          </a:ln>
          <a:effectLst>
            <a:outerShdw blurRad="50800" dist="63500" dir="2700000" algn="tl" rotWithShape="0">
              <a:prstClr val="black">
                <a:alpha val="40000"/>
              </a:prstClr>
            </a:outerShdw>
            <a:softEdge rad="31750"/>
          </a:effectLst>
        </p:spPr>
      </p:pic>
    </p:spTree>
    <p:extLst>
      <p:ext uri="{BB962C8B-B14F-4D97-AF65-F5344CB8AC3E}">
        <p14:creationId xmlns:p14="http://schemas.microsoft.com/office/powerpoint/2010/main" val="42509990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bg/>
                                          </p:spTgt>
                                        </p:tgtEl>
                                        <p:attrNameLst>
                                          <p:attrName>style.visibility</p:attrName>
                                        </p:attrNameLst>
                                      </p:cBhvr>
                                      <p:to>
                                        <p:strVal val="visible"/>
                                      </p:to>
                                    </p:set>
                                    <p:animEffect transition="in" filter="fade">
                                      <p:cBhvr>
                                        <p:cTn id="40" dur="500"/>
                                        <p:tgtEl>
                                          <p:spTgt spid="4">
                                            <p:bg/>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055D-6FA7-5703-F82D-441BB2C059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639EB0-4DE5-9283-DADA-62937736E114}"/>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Análise de pacotes com </a:t>
            </a:r>
            <a:r>
              <a:rPr lang="pt-BR" sz="3200" b="1" dirty="0" err="1">
                <a:latin typeface="Arial" panose="020B0604020202020204" pitchFamily="34" charset="0"/>
                <a:cs typeface="Arial" panose="020B0604020202020204" pitchFamily="34" charset="0"/>
              </a:rPr>
              <a:t>Wireshark</a:t>
            </a:r>
            <a:endParaRPr lang="pt-BR" sz="3200" b="1" dirty="0">
              <a:latin typeface="Arial" panose="020B0604020202020204" pitchFamily="34" charset="0"/>
              <a:cs typeface="Arial" panose="020B0604020202020204" pitchFamily="34" charset="0"/>
            </a:endParaRPr>
          </a:p>
        </p:txBody>
      </p:sp>
      <p:sp>
        <p:nvSpPr>
          <p:cNvPr id="3" name="Espaço Reservado para Conteúdo 2">
            <a:extLst>
              <a:ext uri="{FF2B5EF4-FFF2-40B4-BE49-F238E27FC236}">
                <a16:creationId xmlns:a16="http://schemas.microsoft.com/office/drawing/2014/main" id="{ED83920A-519B-C22A-4BE3-11358E49E483}"/>
              </a:ext>
            </a:extLst>
          </p:cNvPr>
          <p:cNvSpPr>
            <a:spLocks noGrp="1"/>
          </p:cNvSpPr>
          <p:nvPr>
            <p:ph sz="half" idx="1"/>
          </p:nvPr>
        </p:nvSpPr>
        <p:spPr>
          <a:xfrm>
            <a:off x="609600" y="2088000"/>
            <a:ext cx="5181600" cy="4351338"/>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Capabilidades do Wireshark</a:t>
            </a:r>
          </a:p>
          <a:p>
            <a:r>
              <a:rPr lang="pt-BR" sz="1600" dirty="0">
                <a:latin typeface="Arial" panose="020B0604020202020204" pitchFamily="34" charset="0"/>
                <a:cs typeface="Arial" panose="020B0604020202020204" pitchFamily="34" charset="0"/>
              </a:rPr>
              <a:t>Captura e analisa o tráfego de rede em tempo real</a:t>
            </a:r>
          </a:p>
          <a:p>
            <a:r>
              <a:rPr lang="pt-BR" sz="1600" dirty="0">
                <a:latin typeface="Arial" panose="020B0604020202020204" pitchFamily="34" charset="0"/>
                <a:cs typeface="Arial" panose="020B0604020202020204" pitchFamily="34" charset="0"/>
              </a:rPr>
              <a:t>Inspeção profunda de pacotes em múltiplos protocolos</a:t>
            </a:r>
          </a:p>
          <a:p>
            <a:r>
              <a:rPr lang="pt-BR" sz="1600" dirty="0">
                <a:latin typeface="Arial" panose="020B0604020202020204" pitchFamily="34" charset="0"/>
                <a:cs typeface="Arial" panose="020B0604020202020204" pitchFamily="34" charset="0"/>
              </a:rPr>
              <a:t>Visualização de pacotes com código de cores</a:t>
            </a:r>
          </a:p>
          <a:p>
            <a:r>
              <a:rPr lang="pt-BR" sz="1600" dirty="0">
                <a:latin typeface="Arial" panose="020B0604020202020204" pitchFamily="34" charset="0"/>
                <a:cs typeface="Arial" panose="020B0604020202020204" pitchFamily="34" charset="0"/>
              </a:rPr>
              <a:t>Soluciona problemas complexos de rede</a:t>
            </a:r>
          </a:p>
          <a:p>
            <a:r>
              <a:rPr lang="pt-BR" sz="1600" dirty="0">
                <a:latin typeface="Arial" panose="020B0604020202020204" pitchFamily="34" charset="0"/>
                <a:cs typeface="Arial" panose="020B0604020202020204" pitchFamily="34" charset="0"/>
              </a:rPr>
              <a:t>Identifica padrões de tráfego maliciosos</a:t>
            </a:r>
          </a:p>
        </p:txBody>
      </p:sp>
      <p:sp>
        <p:nvSpPr>
          <p:cNvPr id="4" name="Espaço Reservado para Conteúdo 3">
            <a:extLst>
              <a:ext uri="{FF2B5EF4-FFF2-40B4-BE49-F238E27FC236}">
                <a16:creationId xmlns:a16="http://schemas.microsoft.com/office/drawing/2014/main" id="{97ADD04E-DE20-5990-6E2B-49A7B9949340}"/>
              </a:ext>
            </a:extLst>
          </p:cNvPr>
          <p:cNvSpPr>
            <a:spLocks noGrp="1"/>
          </p:cNvSpPr>
          <p:nvPr>
            <p:ph sz="half" idx="2"/>
          </p:nvPr>
        </p:nvSpPr>
        <p:spPr>
          <a:xfrm>
            <a:off x="6400800" y="2088000"/>
            <a:ext cx="5181600" cy="4351338"/>
          </a:xfrm>
          <a:prstGeom prst="round2Same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Interface do Wireshark</a:t>
            </a:r>
          </a:p>
        </p:txBody>
      </p:sp>
      <p:pic>
        <p:nvPicPr>
          <p:cNvPr id="7" name="Picture 6" descr="Screenshot of Wireshark network protocol analyzer displaying captured Ethernet packets with columns for packet number, time, source, destination, protocol, and length info. Highlighted rows show various protocols including UDP, ICMPv6, and TCP with details like packet lengths, source/destination IPs, and specific flags, illustrating network traffic analysis and troubleshooting.">
            <a:extLst>
              <a:ext uri="{FF2B5EF4-FFF2-40B4-BE49-F238E27FC236}">
                <a16:creationId xmlns:a16="http://schemas.microsoft.com/office/drawing/2014/main" id="{66E2F0B2-F2B5-3FE2-9210-64F2D366021F}"/>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4057" y="326259"/>
            <a:ext cx="8003886" cy="6205482"/>
          </a:xfrm>
          <a:prstGeom prst="rect">
            <a:avLst/>
          </a:prstGeom>
          <a:ln>
            <a:noFill/>
          </a:ln>
          <a:effectLst>
            <a:outerShdw blurRad="50800" dist="63500" dir="2700000" algn="tl" rotWithShape="0">
              <a:prstClr val="black">
                <a:alpha val="40000"/>
              </a:prstClr>
            </a:outerShdw>
            <a:softEdge rad="31750"/>
          </a:effectLst>
        </p:spPr>
      </p:pic>
    </p:spTree>
    <p:extLst>
      <p:ext uri="{BB962C8B-B14F-4D97-AF65-F5344CB8AC3E}">
        <p14:creationId xmlns:p14="http://schemas.microsoft.com/office/powerpoint/2010/main" val="1862599133"/>
      </p:ext>
    </p:extLst>
  </p:cSld>
  <p:clrMapOvr>
    <a:masterClrMapping/>
  </p:clrMapOvr>
  <p:transition>
    <p:strips/>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D3254-7131-259A-A99E-C8AD91AAF3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FABEB6-D74A-8D42-6203-89EF782DDB95}"/>
              </a:ext>
            </a:extLst>
          </p:cNvPr>
          <p:cNvSpPr>
            <a:spLocks noGrp="1" noRot="1" noMove="1" noResize="1" noEditPoints="1" noAdjustHandles="1" noChangeArrowheads="1" noChangeShapeType="1"/>
          </p:cNvSpPr>
          <p:nvPr>
            <p:ph type="title"/>
          </p:nvPr>
        </p:nvSpPr>
        <p:spPr>
          <a:xfrm>
            <a:off x="0" y="365125"/>
            <a:ext cx="12192000" cy="1325563"/>
          </a:xfrm>
          <a:solidFill>
            <a:schemeClr val="tx2">
              <a:lumMod val="10000"/>
            </a:schemeClr>
          </a:solidFill>
        </p:spPr>
        <p:txBody>
          <a:bodyPr>
            <a:normAutofit/>
          </a:bodyPr>
          <a:lstStyle/>
          <a:p>
            <a:pPr algn="ctr"/>
            <a:r>
              <a:rPr lang="pt-BR" sz="3200" b="1" dirty="0">
                <a:latin typeface="Arial" panose="020B0604020202020204" pitchFamily="34" charset="0"/>
                <a:cs typeface="Arial" panose="020B0604020202020204" pitchFamily="34" charset="0"/>
              </a:rPr>
              <a:t>Metodologia Sistemática de Resolução de Problemas</a:t>
            </a:r>
          </a:p>
        </p:txBody>
      </p:sp>
      <p:sp>
        <p:nvSpPr>
          <p:cNvPr id="3" name="Espaço Reservado para Conteúdo 2">
            <a:extLst>
              <a:ext uri="{FF2B5EF4-FFF2-40B4-BE49-F238E27FC236}">
                <a16:creationId xmlns:a16="http://schemas.microsoft.com/office/drawing/2014/main" id="{8F127BD8-6E65-34D7-18CF-39EAAAB896A4}"/>
              </a:ext>
            </a:extLst>
          </p:cNvPr>
          <p:cNvSpPr>
            <a:spLocks noGrp="1"/>
          </p:cNvSpPr>
          <p:nvPr>
            <p:ph sz="half" idx="1"/>
          </p:nvPr>
        </p:nvSpPr>
        <p:spPr>
          <a:xfrm>
            <a:off x="254178" y="2441001"/>
            <a:ext cx="2611345" cy="1975999"/>
          </a:xfrm>
          <a:prstGeom prst="roundRect">
            <a:avLst/>
          </a:prstGeom>
          <a:solidFill>
            <a:schemeClr val="tx2">
              <a:lumMod val="10000"/>
            </a:schemeClr>
          </a:solidFill>
        </p:spPr>
        <p:txBody>
          <a:bodyPr>
            <a:normAutofit/>
          </a:bodyPr>
          <a:lstStyle/>
          <a:p>
            <a:pPr marL="0" indent="0" algn="ctr">
              <a:buNone/>
            </a:pPr>
            <a:r>
              <a:rPr lang="en-GB" sz="1400" b="1" dirty="0">
                <a:latin typeface="Arial" panose="020B0604020202020204" pitchFamily="34" charset="0"/>
                <a:cs typeface="Arial" panose="020B0604020202020204" pitchFamily="34" charset="0"/>
              </a:rPr>
              <a:t>1️⃣</a:t>
            </a:r>
            <a:r>
              <a:rPr lang="pt-BR" sz="1400" b="1" dirty="0">
                <a:latin typeface="Arial" panose="020B0604020202020204" pitchFamily="34" charset="0"/>
                <a:cs typeface="Arial" panose="020B0604020202020204" pitchFamily="34" charset="0"/>
              </a:rPr>
              <a:t> Identificar o Problema</a:t>
            </a:r>
          </a:p>
          <a:p>
            <a:r>
              <a:rPr lang="pt-BR" sz="1200" dirty="0">
                <a:latin typeface="Arial" panose="020B0604020202020204" pitchFamily="34" charset="0"/>
                <a:cs typeface="Arial" panose="020B0604020202020204" pitchFamily="34" charset="0"/>
              </a:rPr>
              <a:t>Reúna relatórios de usuários</a:t>
            </a:r>
          </a:p>
          <a:p>
            <a:r>
              <a:rPr lang="pt-BR" sz="1200" dirty="0">
                <a:latin typeface="Arial" panose="020B0604020202020204" pitchFamily="34" charset="0"/>
                <a:cs typeface="Arial" panose="020B0604020202020204" pitchFamily="34" charset="0"/>
              </a:rPr>
              <a:t>Documentar os sintomas</a:t>
            </a:r>
          </a:p>
          <a:p>
            <a:r>
              <a:rPr lang="pt-BR" sz="1200" dirty="0">
                <a:latin typeface="Arial" panose="020B0604020202020204" pitchFamily="34" charset="0"/>
                <a:cs typeface="Arial" panose="020B0604020202020204" pitchFamily="34" charset="0"/>
              </a:rPr>
              <a:t>Determinar a abrangência (local ou generalizada)</a:t>
            </a:r>
          </a:p>
          <a:p>
            <a:r>
              <a:rPr lang="pt-BR" sz="1200" dirty="0">
                <a:latin typeface="Arial" panose="020B0604020202020204" pitchFamily="34" charset="0"/>
                <a:cs typeface="Arial" panose="020B0604020202020204" pitchFamily="34" charset="0"/>
              </a:rPr>
              <a:t>Estabelecer um cronograma (novo ou recorrente)</a:t>
            </a:r>
          </a:p>
        </p:txBody>
      </p:sp>
      <p:sp>
        <p:nvSpPr>
          <p:cNvPr id="7" name="Espaço Reservado para Conteúdo 2">
            <a:extLst>
              <a:ext uri="{FF2B5EF4-FFF2-40B4-BE49-F238E27FC236}">
                <a16:creationId xmlns:a16="http://schemas.microsoft.com/office/drawing/2014/main" id="{E7ECA2E2-381E-61DD-191C-889D085E79AF}"/>
              </a:ext>
            </a:extLst>
          </p:cNvPr>
          <p:cNvSpPr txBox="1">
            <a:spLocks/>
          </p:cNvSpPr>
          <p:nvPr/>
        </p:nvSpPr>
        <p:spPr>
          <a:xfrm>
            <a:off x="3268578" y="2441001"/>
            <a:ext cx="2611345" cy="1975999"/>
          </a:xfrm>
          <a:prstGeom prst="roundRect">
            <a:avLst/>
          </a:prstGeom>
          <a:solidFill>
            <a:schemeClr val="tx2">
              <a:lumMod val="1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dirty="0">
                <a:latin typeface="Arial" panose="020B0604020202020204" pitchFamily="34" charset="0"/>
                <a:cs typeface="Arial" panose="020B0604020202020204" pitchFamily="34" charset="0"/>
              </a:rPr>
              <a:t>2️⃣</a:t>
            </a:r>
            <a:r>
              <a:rPr lang="pt-BR" sz="1400" b="1" dirty="0">
                <a:latin typeface="Arial" panose="020B0604020202020204" pitchFamily="34" charset="0"/>
                <a:cs typeface="Arial" panose="020B0604020202020204" pitchFamily="34" charset="0"/>
              </a:rPr>
              <a:t> Estabelecer Teoria</a:t>
            </a:r>
          </a:p>
          <a:p>
            <a:r>
              <a:rPr lang="pt-BR" sz="1200" dirty="0">
                <a:latin typeface="Arial" panose="020B0604020202020204" pitchFamily="34" charset="0"/>
                <a:cs typeface="Arial" panose="020B0604020202020204" pitchFamily="34" charset="0"/>
              </a:rPr>
              <a:t>Considere primeiro as causas comuns</a:t>
            </a:r>
          </a:p>
          <a:p>
            <a:r>
              <a:rPr lang="pt-BR" sz="1200" dirty="0">
                <a:latin typeface="Arial" panose="020B0604020202020204" pitchFamily="34" charset="0"/>
                <a:cs typeface="Arial" panose="020B0604020202020204" pitchFamily="34" charset="0"/>
              </a:rPr>
              <a:t>Analise as mudanças recentes</a:t>
            </a:r>
          </a:p>
          <a:p>
            <a:r>
              <a:rPr lang="pt-BR" sz="1200" dirty="0">
                <a:latin typeface="Arial" panose="020B0604020202020204" pitchFamily="34" charset="0"/>
                <a:cs typeface="Arial" panose="020B0604020202020204" pitchFamily="34" charset="0"/>
              </a:rPr>
              <a:t>Verifique se há padrões</a:t>
            </a:r>
          </a:p>
          <a:p>
            <a:r>
              <a:rPr lang="pt-BR" sz="1200" dirty="0">
                <a:latin typeface="Arial" panose="020B0604020202020204" pitchFamily="34" charset="0"/>
                <a:cs typeface="Arial" panose="020B0604020202020204" pitchFamily="34" charset="0"/>
              </a:rPr>
              <a:t>Priorize as causas potenciais</a:t>
            </a:r>
          </a:p>
        </p:txBody>
      </p:sp>
      <p:sp>
        <p:nvSpPr>
          <p:cNvPr id="8" name="Espaço Reservado para Conteúdo 2">
            <a:extLst>
              <a:ext uri="{FF2B5EF4-FFF2-40B4-BE49-F238E27FC236}">
                <a16:creationId xmlns:a16="http://schemas.microsoft.com/office/drawing/2014/main" id="{B15C81D2-2F06-5129-857F-8B0BF08C8215}"/>
              </a:ext>
            </a:extLst>
          </p:cNvPr>
          <p:cNvSpPr txBox="1">
            <a:spLocks/>
          </p:cNvSpPr>
          <p:nvPr/>
        </p:nvSpPr>
        <p:spPr>
          <a:xfrm>
            <a:off x="6282978" y="2441001"/>
            <a:ext cx="2611345" cy="1975999"/>
          </a:xfrm>
          <a:prstGeom prst="roundRect">
            <a:avLst/>
          </a:prstGeom>
          <a:solidFill>
            <a:schemeClr val="tx2">
              <a:lumMod val="1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dirty="0">
                <a:latin typeface="Arial" panose="020B0604020202020204" pitchFamily="34" charset="0"/>
                <a:cs typeface="Arial" panose="020B0604020202020204" pitchFamily="34" charset="0"/>
              </a:rPr>
              <a:t>3️⃣</a:t>
            </a:r>
            <a:r>
              <a:rPr lang="pt-BR" sz="1400" b="1" dirty="0">
                <a:latin typeface="Arial" panose="020B0604020202020204" pitchFamily="34" charset="0"/>
                <a:cs typeface="Arial" panose="020B0604020202020204" pitchFamily="34" charset="0"/>
              </a:rPr>
              <a:t> Testar a Teoria</a:t>
            </a:r>
          </a:p>
          <a:p>
            <a:r>
              <a:rPr lang="pt-BR" sz="1200" dirty="0">
                <a:latin typeface="Arial" panose="020B0604020202020204" pitchFamily="34" charset="0"/>
                <a:cs typeface="Arial" panose="020B0604020202020204" pitchFamily="34" charset="0"/>
              </a:rPr>
              <a:t>Utilize ferramentas de diagnóstico apropriadas</a:t>
            </a:r>
          </a:p>
          <a:p>
            <a:r>
              <a:rPr lang="pt-BR" sz="1200" dirty="0">
                <a:latin typeface="Arial" panose="020B0604020202020204" pitchFamily="34" charset="0"/>
                <a:cs typeface="Arial" panose="020B0604020202020204" pitchFamily="34" charset="0"/>
              </a:rPr>
              <a:t>Comece com testes de sífilis</a:t>
            </a:r>
          </a:p>
          <a:p>
            <a:r>
              <a:rPr lang="pt-BR" sz="1200" dirty="0">
                <a:latin typeface="Arial" panose="020B0604020202020204" pitchFamily="34" charset="0"/>
                <a:cs typeface="Arial" panose="020B0604020202020204" pitchFamily="34" charset="0"/>
              </a:rPr>
              <a:t>Isole as variáveis</a:t>
            </a:r>
          </a:p>
          <a:p>
            <a:r>
              <a:rPr lang="pt-BR" sz="1200" dirty="0">
                <a:latin typeface="Arial" panose="020B0604020202020204" pitchFamily="34" charset="0"/>
                <a:cs typeface="Arial" panose="020B0604020202020204" pitchFamily="34" charset="0"/>
              </a:rPr>
              <a:t>Documente os resultados dos testes</a:t>
            </a:r>
          </a:p>
        </p:txBody>
      </p:sp>
      <p:sp>
        <p:nvSpPr>
          <p:cNvPr id="9" name="Espaço Reservado para Conteúdo 2">
            <a:extLst>
              <a:ext uri="{FF2B5EF4-FFF2-40B4-BE49-F238E27FC236}">
                <a16:creationId xmlns:a16="http://schemas.microsoft.com/office/drawing/2014/main" id="{11EC8BC7-4362-3171-722D-EDFD80ACEDD4}"/>
              </a:ext>
            </a:extLst>
          </p:cNvPr>
          <p:cNvSpPr txBox="1">
            <a:spLocks/>
          </p:cNvSpPr>
          <p:nvPr/>
        </p:nvSpPr>
        <p:spPr>
          <a:xfrm>
            <a:off x="9297378" y="2441001"/>
            <a:ext cx="2611345" cy="1975999"/>
          </a:xfrm>
          <a:prstGeom prst="roundRect">
            <a:avLst/>
          </a:prstGeom>
          <a:solidFill>
            <a:schemeClr val="tx2">
              <a:lumMod val="1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1400" b="1" dirty="0">
                <a:latin typeface="Arial" panose="020B0604020202020204" pitchFamily="34" charset="0"/>
                <a:cs typeface="Arial" panose="020B0604020202020204" pitchFamily="34" charset="0"/>
              </a:rPr>
              <a:t>4️⃣</a:t>
            </a:r>
            <a:r>
              <a:rPr lang="pt-BR" sz="1400" b="1" dirty="0">
                <a:latin typeface="Arial" panose="020B0604020202020204" pitchFamily="34" charset="0"/>
                <a:cs typeface="Arial" panose="020B0604020202020204" pitchFamily="34" charset="0"/>
              </a:rPr>
              <a:t> Implementar e Verificar</a:t>
            </a:r>
          </a:p>
          <a:p>
            <a:r>
              <a:rPr lang="pt-BR" sz="1200" dirty="0">
                <a:latin typeface="Arial" panose="020B0604020202020204" pitchFamily="34" charset="0"/>
                <a:cs typeface="Arial" panose="020B0604020202020204" pitchFamily="34" charset="0"/>
              </a:rPr>
              <a:t>Aplicar a solução</a:t>
            </a:r>
          </a:p>
          <a:p>
            <a:r>
              <a:rPr lang="pt-BR" sz="1200" dirty="0">
                <a:latin typeface="Arial" panose="020B0604020202020204" pitchFamily="34" charset="0"/>
                <a:cs typeface="Arial" panose="020B0604020202020204" pitchFamily="34" charset="0"/>
              </a:rPr>
              <a:t>Testar a funcionalidade</a:t>
            </a:r>
          </a:p>
          <a:p>
            <a:r>
              <a:rPr lang="pt-BR" sz="1200" dirty="0">
                <a:latin typeface="Arial" panose="020B0604020202020204" pitchFamily="34" charset="0"/>
                <a:cs typeface="Arial" panose="020B0604020202020204" pitchFamily="34" charset="0"/>
              </a:rPr>
              <a:t>Monitorar recorrências</a:t>
            </a:r>
          </a:p>
          <a:p>
            <a:r>
              <a:rPr lang="pt-BR" sz="1200" dirty="0">
                <a:latin typeface="Arial" panose="020B0604020202020204" pitchFamily="34" charset="0"/>
                <a:cs typeface="Arial" panose="020B0604020202020204" pitchFamily="34" charset="0"/>
              </a:rPr>
              <a:t>Documentar as etapas de resolução</a:t>
            </a:r>
          </a:p>
        </p:txBody>
      </p:sp>
    </p:spTree>
    <p:extLst>
      <p:ext uri="{BB962C8B-B14F-4D97-AF65-F5344CB8AC3E}">
        <p14:creationId xmlns:p14="http://schemas.microsoft.com/office/powerpoint/2010/main" val="25270422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bg/>
                                          </p:spTgt>
                                        </p:tgtEl>
                                        <p:attrNameLst>
                                          <p:attrName>style.visibility</p:attrName>
                                        </p:attrNameLst>
                                      </p:cBhvr>
                                      <p:to>
                                        <p:strVal val="visible"/>
                                      </p:to>
                                    </p:set>
                                    <p:animEffect transition="in" filter="fade">
                                      <p:cBhvr>
                                        <p:cTn id="35" dur="500"/>
                                        <p:tgtEl>
                                          <p:spTgt spid="7">
                                            <p:bg/>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500"/>
                                        <p:tgtEl>
                                          <p:spTgt spid="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500"/>
                                        <p:tgtEl>
                                          <p:spTgt spid="7">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fade">
                                      <p:cBhvr>
                                        <p:cTn id="48" dur="500"/>
                                        <p:tgtEl>
                                          <p:spTgt spid="7">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7">
                                            <p:txEl>
                                              <p:pRg st="3" end="3"/>
                                            </p:txEl>
                                          </p:spTgt>
                                        </p:tgtEl>
                                        <p:attrNameLst>
                                          <p:attrName>style.visibility</p:attrName>
                                        </p:attrNameLst>
                                      </p:cBhvr>
                                      <p:to>
                                        <p:strVal val="visible"/>
                                      </p:to>
                                    </p:set>
                                    <p:animEffect transition="in" filter="fade">
                                      <p:cBhvr>
                                        <p:cTn id="53" dur="500"/>
                                        <p:tgtEl>
                                          <p:spTgt spid="7">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7">
                                            <p:txEl>
                                              <p:pRg st="4" end="4"/>
                                            </p:txEl>
                                          </p:spTgt>
                                        </p:tgtEl>
                                        <p:attrNameLst>
                                          <p:attrName>style.visibility</p:attrName>
                                        </p:attrNameLst>
                                      </p:cBhvr>
                                      <p:to>
                                        <p:strVal val="visible"/>
                                      </p:to>
                                    </p:set>
                                    <p:animEffect transition="in" filter="fade">
                                      <p:cBhvr>
                                        <p:cTn id="58" dur="500"/>
                                        <p:tgtEl>
                                          <p:spTgt spid="7">
                                            <p:txEl>
                                              <p:pRg st="4" end="4"/>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par>
                                <p:cTn id="64" presetID="10" presetClass="entr" presetSubtype="0" fill="hold" nodeType="withEffect">
                                  <p:stCondLst>
                                    <p:cond delay="0"/>
                                  </p:stCondLst>
                                  <p:childTnLst>
                                    <p:set>
                                      <p:cBhvr>
                                        <p:cTn id="65" dur="1" fill="hold">
                                          <p:stCondLst>
                                            <p:cond delay="0"/>
                                          </p:stCondLst>
                                        </p:cTn>
                                        <p:tgtEl>
                                          <p:spTgt spid="8">
                                            <p:txEl>
                                              <p:pRg st="0" end="0"/>
                                            </p:txEl>
                                          </p:spTgt>
                                        </p:tgtEl>
                                        <p:attrNameLst>
                                          <p:attrName>style.visibility</p:attrName>
                                        </p:attrNameLst>
                                      </p:cBhvr>
                                      <p:to>
                                        <p:strVal val="visible"/>
                                      </p:to>
                                    </p:set>
                                    <p:animEffect transition="in" filter="fade">
                                      <p:cBhvr>
                                        <p:cTn id="66" dur="500"/>
                                        <p:tgtEl>
                                          <p:spTgt spid="8">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8">
                                            <p:txEl>
                                              <p:pRg st="1" end="1"/>
                                            </p:txEl>
                                          </p:spTgt>
                                        </p:tgtEl>
                                        <p:attrNameLst>
                                          <p:attrName>style.visibility</p:attrName>
                                        </p:attrNameLst>
                                      </p:cBhvr>
                                      <p:to>
                                        <p:strVal val="visible"/>
                                      </p:to>
                                    </p:set>
                                    <p:animEffect transition="in" filter="fade">
                                      <p:cBhvr>
                                        <p:cTn id="71" dur="500"/>
                                        <p:tgtEl>
                                          <p:spTgt spid="8">
                                            <p:txEl>
                                              <p:pRg st="1" end="1"/>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
                                            <p:txEl>
                                              <p:pRg st="2" end="2"/>
                                            </p:txEl>
                                          </p:spTgt>
                                        </p:tgtEl>
                                        <p:attrNameLst>
                                          <p:attrName>style.visibility</p:attrName>
                                        </p:attrNameLst>
                                      </p:cBhvr>
                                      <p:to>
                                        <p:strVal val="visible"/>
                                      </p:to>
                                    </p:set>
                                    <p:animEffect transition="in" filter="fade">
                                      <p:cBhvr>
                                        <p:cTn id="76" dur="500"/>
                                        <p:tgtEl>
                                          <p:spTgt spid="8">
                                            <p:txEl>
                                              <p:pRg st="2" end="2"/>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8">
                                            <p:txEl>
                                              <p:pRg st="3" end="3"/>
                                            </p:txEl>
                                          </p:spTgt>
                                        </p:tgtEl>
                                        <p:attrNameLst>
                                          <p:attrName>style.visibility</p:attrName>
                                        </p:attrNameLst>
                                      </p:cBhvr>
                                      <p:to>
                                        <p:strVal val="visible"/>
                                      </p:to>
                                    </p:set>
                                    <p:animEffect transition="in" filter="fade">
                                      <p:cBhvr>
                                        <p:cTn id="81" dur="500"/>
                                        <p:tgtEl>
                                          <p:spTgt spid="8">
                                            <p:txEl>
                                              <p:pRg st="3" end="3"/>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8">
                                            <p:txEl>
                                              <p:pRg st="4" end="4"/>
                                            </p:txEl>
                                          </p:spTgt>
                                        </p:tgtEl>
                                        <p:attrNameLst>
                                          <p:attrName>style.visibility</p:attrName>
                                        </p:attrNameLst>
                                      </p:cBhvr>
                                      <p:to>
                                        <p:strVal val="visible"/>
                                      </p:to>
                                    </p:set>
                                    <p:animEffect transition="in" filter="fade">
                                      <p:cBhvr>
                                        <p:cTn id="86" dur="500"/>
                                        <p:tgtEl>
                                          <p:spTgt spid="8">
                                            <p:txEl>
                                              <p:pRg st="4" end="4"/>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9"/>
                                        </p:tgtEl>
                                        <p:attrNameLst>
                                          <p:attrName>style.visibility</p:attrName>
                                        </p:attrNameLst>
                                      </p:cBhvr>
                                      <p:to>
                                        <p:strVal val="visible"/>
                                      </p:to>
                                    </p:set>
                                    <p:animEffect transition="in" filter="fade">
                                      <p:cBhvr>
                                        <p:cTn id="91" dur="500"/>
                                        <p:tgtEl>
                                          <p:spTgt spid="9"/>
                                        </p:tgtEl>
                                      </p:cBhvr>
                                    </p:animEffect>
                                  </p:childTnLst>
                                </p:cTn>
                              </p:par>
                              <p:par>
                                <p:cTn id="92" presetID="10" presetClass="entr" presetSubtype="0" fill="hold" nodeType="withEffect">
                                  <p:stCondLst>
                                    <p:cond delay="0"/>
                                  </p:stCondLst>
                                  <p:childTnLst>
                                    <p:set>
                                      <p:cBhvr>
                                        <p:cTn id="93" dur="1" fill="hold">
                                          <p:stCondLst>
                                            <p:cond delay="0"/>
                                          </p:stCondLst>
                                        </p:cTn>
                                        <p:tgtEl>
                                          <p:spTgt spid="9">
                                            <p:txEl>
                                              <p:pRg st="0" end="0"/>
                                            </p:txEl>
                                          </p:spTgt>
                                        </p:tgtEl>
                                        <p:attrNameLst>
                                          <p:attrName>style.visibility</p:attrName>
                                        </p:attrNameLst>
                                      </p:cBhvr>
                                      <p:to>
                                        <p:strVal val="visible"/>
                                      </p:to>
                                    </p:set>
                                    <p:animEffect transition="in" filter="fade">
                                      <p:cBhvr>
                                        <p:cTn id="94" dur="500"/>
                                        <p:tgtEl>
                                          <p:spTgt spid="9">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9">
                                            <p:txEl>
                                              <p:pRg st="1" end="1"/>
                                            </p:txEl>
                                          </p:spTgt>
                                        </p:tgtEl>
                                        <p:attrNameLst>
                                          <p:attrName>style.visibility</p:attrName>
                                        </p:attrNameLst>
                                      </p:cBhvr>
                                      <p:to>
                                        <p:strVal val="visible"/>
                                      </p:to>
                                    </p:set>
                                    <p:animEffect transition="in" filter="fade">
                                      <p:cBhvr>
                                        <p:cTn id="99" dur="500"/>
                                        <p:tgtEl>
                                          <p:spTgt spid="9">
                                            <p:txEl>
                                              <p:pRg st="1" end="1"/>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9">
                                            <p:txEl>
                                              <p:pRg st="2" end="2"/>
                                            </p:txEl>
                                          </p:spTgt>
                                        </p:tgtEl>
                                        <p:attrNameLst>
                                          <p:attrName>style.visibility</p:attrName>
                                        </p:attrNameLst>
                                      </p:cBhvr>
                                      <p:to>
                                        <p:strVal val="visible"/>
                                      </p:to>
                                    </p:set>
                                    <p:animEffect transition="in" filter="fade">
                                      <p:cBhvr>
                                        <p:cTn id="104" dur="500"/>
                                        <p:tgtEl>
                                          <p:spTgt spid="9">
                                            <p:txEl>
                                              <p:pRg st="2" end="2"/>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9">
                                            <p:txEl>
                                              <p:pRg st="3" end="3"/>
                                            </p:txEl>
                                          </p:spTgt>
                                        </p:tgtEl>
                                        <p:attrNameLst>
                                          <p:attrName>style.visibility</p:attrName>
                                        </p:attrNameLst>
                                      </p:cBhvr>
                                      <p:to>
                                        <p:strVal val="visible"/>
                                      </p:to>
                                    </p:set>
                                    <p:animEffect transition="in" filter="fade">
                                      <p:cBhvr>
                                        <p:cTn id="109" dur="500"/>
                                        <p:tgtEl>
                                          <p:spTgt spid="9">
                                            <p:txEl>
                                              <p:pRg st="3" end="3"/>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9">
                                            <p:txEl>
                                              <p:pRg st="4" end="4"/>
                                            </p:txEl>
                                          </p:spTgt>
                                        </p:tgtEl>
                                        <p:attrNameLst>
                                          <p:attrName>style.visibility</p:attrName>
                                        </p:attrNameLst>
                                      </p:cBhvr>
                                      <p:to>
                                        <p:strVal val="visible"/>
                                      </p:to>
                                    </p:set>
                                    <p:animEffect transition="in" filter="fade">
                                      <p:cBhvr>
                                        <p:cTn id="114"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7" grpId="0" uiExpand="1" build="allAtOnce"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95F2-8BE1-A9F7-CB83-318A2664EE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809E6E-DE81-6ABD-5243-CC428F3B619A}"/>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Abordagem de Resolução de Problemas do Modelo OSI</a:t>
            </a:r>
          </a:p>
        </p:txBody>
      </p:sp>
      <p:sp>
        <p:nvSpPr>
          <p:cNvPr id="3" name="Espaço Reservado para Conteúdo 2">
            <a:extLst>
              <a:ext uri="{FF2B5EF4-FFF2-40B4-BE49-F238E27FC236}">
                <a16:creationId xmlns:a16="http://schemas.microsoft.com/office/drawing/2014/main" id="{7E07B74E-96EC-60BE-71D0-BB6323C1073E}"/>
              </a:ext>
            </a:extLst>
          </p:cNvPr>
          <p:cNvSpPr>
            <a:spLocks noGrp="1"/>
          </p:cNvSpPr>
          <p:nvPr>
            <p:ph sz="half" idx="1"/>
          </p:nvPr>
        </p:nvSpPr>
        <p:spPr>
          <a:xfrm>
            <a:off x="1159478" y="2088000"/>
            <a:ext cx="4356784" cy="4351338"/>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a:bodyPr>
          <a:lstStyle/>
          <a:p>
            <a:pPr marL="0" indent="0" algn="ctr">
              <a:buNone/>
            </a:pPr>
            <a:r>
              <a:rPr lang="en-GB" sz="1800" b="1" dirty="0">
                <a:latin typeface="Arial" panose="020B0604020202020204" pitchFamily="34" charset="0"/>
                <a:cs typeface="Arial" panose="020B0604020202020204" pitchFamily="34" charset="0"/>
              </a:rPr>
              <a:t>⏫ </a:t>
            </a:r>
            <a:r>
              <a:rPr lang="pt-BR" sz="1800" b="1" dirty="0">
                <a:latin typeface="Arial" panose="020B0604020202020204" pitchFamily="34" charset="0"/>
                <a:cs typeface="Arial" panose="020B0604020202020204" pitchFamily="34" charset="0"/>
              </a:rPr>
              <a:t>Abordagem de Baixo para Cima</a:t>
            </a:r>
          </a:p>
          <a:p>
            <a:pPr marL="342900" indent="-342900">
              <a:buFont typeface="+mj-lt"/>
              <a:buAutoNum type="arabicPeriod"/>
            </a:pPr>
            <a:r>
              <a:rPr lang="pt-BR" sz="1600" b="1" dirty="0">
                <a:latin typeface="Arial" panose="020B0604020202020204" pitchFamily="34" charset="0"/>
                <a:cs typeface="Arial" panose="020B0604020202020204" pitchFamily="34" charset="0"/>
              </a:rPr>
              <a:t>Camada Física</a:t>
            </a:r>
            <a:br>
              <a:rPr lang="pt-BR" sz="1600" dirty="0">
                <a:latin typeface="Arial" panose="020B0604020202020204" pitchFamily="34" charset="0"/>
                <a:cs typeface="Arial" panose="020B0604020202020204" pitchFamily="34" charset="0"/>
              </a:rPr>
            </a:br>
            <a:r>
              <a:rPr lang="pt-BR" sz="1600" dirty="0">
                <a:solidFill>
                  <a:schemeClr val="accent5">
                    <a:lumMod val="40000"/>
                    <a:lumOff val="60000"/>
                  </a:schemeClr>
                </a:solidFill>
                <a:latin typeface="Arial" panose="020B0604020202020204" pitchFamily="34" charset="0"/>
                <a:cs typeface="Arial" panose="020B0604020202020204" pitchFamily="34" charset="0"/>
              </a:rPr>
              <a:t>Testadores de cabos, inspeção visual</a:t>
            </a:r>
          </a:p>
          <a:p>
            <a:pPr marL="342900" indent="-342900">
              <a:buFont typeface="+mj-lt"/>
              <a:buAutoNum type="arabicPeriod"/>
            </a:pPr>
            <a:r>
              <a:rPr lang="pt-BR" sz="1600" b="1" dirty="0">
                <a:latin typeface="Arial" panose="020B0604020202020204" pitchFamily="34" charset="0"/>
                <a:cs typeface="Arial" panose="020B0604020202020204" pitchFamily="34" charset="0"/>
              </a:rPr>
              <a:t>Camada de Link de Dados</a:t>
            </a:r>
            <a:br>
              <a:rPr lang="pt-BR" sz="1600" dirty="0">
                <a:latin typeface="Arial" panose="020B0604020202020204" pitchFamily="34" charset="0"/>
                <a:cs typeface="Arial" panose="020B0604020202020204" pitchFamily="34" charset="0"/>
              </a:rPr>
            </a:br>
            <a:r>
              <a:rPr lang="pt-BR" sz="1600" dirty="0">
                <a:solidFill>
                  <a:schemeClr val="accent2">
                    <a:lumMod val="40000"/>
                    <a:lumOff val="60000"/>
                  </a:schemeClr>
                </a:solidFill>
                <a:latin typeface="Arial" panose="020B0604020202020204" pitchFamily="34" charset="0"/>
                <a:cs typeface="Arial" panose="020B0604020202020204" pitchFamily="34" charset="0"/>
              </a:rPr>
              <a:t>ifconfig/ipconfig</a:t>
            </a:r>
            <a:r>
              <a:rPr lang="pt-BR" sz="1600" dirty="0">
                <a:solidFill>
                  <a:schemeClr val="accent5">
                    <a:lumMod val="40000"/>
                    <a:lumOff val="60000"/>
                  </a:schemeClr>
                </a:solidFill>
                <a:latin typeface="Arial" panose="020B0604020202020204" pitchFamily="34" charset="0"/>
                <a:cs typeface="Arial" panose="020B0604020202020204" pitchFamily="34" charset="0"/>
              </a:rPr>
              <a:t>, diagnóstico de switch</a:t>
            </a:r>
          </a:p>
          <a:p>
            <a:pPr marL="342900" indent="-342900">
              <a:buFont typeface="+mj-lt"/>
              <a:buAutoNum type="arabicPeriod"/>
            </a:pPr>
            <a:r>
              <a:rPr lang="pt-BR" sz="1600" b="1" dirty="0">
                <a:latin typeface="Arial" panose="020B0604020202020204" pitchFamily="34" charset="0"/>
                <a:cs typeface="Arial" panose="020B0604020202020204" pitchFamily="34" charset="0"/>
              </a:rPr>
              <a:t>Camada de Rede</a:t>
            </a:r>
            <a:br>
              <a:rPr lang="pt-BR" sz="1600" dirty="0">
                <a:latin typeface="Arial" panose="020B0604020202020204" pitchFamily="34" charset="0"/>
                <a:cs typeface="Arial" panose="020B0604020202020204" pitchFamily="34" charset="0"/>
              </a:rPr>
            </a:br>
            <a:r>
              <a:rPr lang="pt-BR" sz="1600" dirty="0">
                <a:solidFill>
                  <a:schemeClr val="accent2">
                    <a:lumMod val="40000"/>
                    <a:lumOff val="60000"/>
                  </a:schemeClr>
                </a:solidFill>
                <a:latin typeface="Arial" panose="020B0604020202020204" pitchFamily="34" charset="0"/>
                <a:cs typeface="Arial" panose="020B0604020202020204" pitchFamily="34" charset="0"/>
              </a:rPr>
              <a:t>ping</a:t>
            </a:r>
            <a:r>
              <a:rPr lang="pt-BR" sz="1600" dirty="0">
                <a:solidFill>
                  <a:schemeClr val="accent5">
                    <a:lumMod val="40000"/>
                    <a:lumOff val="60000"/>
                  </a:schemeClr>
                </a:solidFill>
                <a:latin typeface="Arial" panose="020B0604020202020204" pitchFamily="34" charset="0"/>
                <a:cs typeface="Arial" panose="020B0604020202020204" pitchFamily="34" charset="0"/>
              </a:rPr>
              <a:t>, </a:t>
            </a:r>
            <a:r>
              <a:rPr lang="pt-BR" sz="1600" dirty="0">
                <a:solidFill>
                  <a:schemeClr val="accent2">
                    <a:lumMod val="40000"/>
                    <a:lumOff val="60000"/>
                  </a:schemeClr>
                </a:solidFill>
                <a:latin typeface="Arial" panose="020B0604020202020204" pitchFamily="34" charset="0"/>
                <a:cs typeface="Arial" panose="020B0604020202020204" pitchFamily="34" charset="0"/>
              </a:rPr>
              <a:t>traceroute</a:t>
            </a:r>
            <a:r>
              <a:rPr lang="pt-BR" sz="1600" dirty="0">
                <a:solidFill>
                  <a:schemeClr val="accent5">
                    <a:lumMod val="40000"/>
                    <a:lumOff val="60000"/>
                  </a:schemeClr>
                </a:solidFill>
                <a:latin typeface="Arial" panose="020B0604020202020204" pitchFamily="34" charset="0"/>
                <a:cs typeface="Arial" panose="020B0604020202020204" pitchFamily="34" charset="0"/>
              </a:rPr>
              <a:t>, diagnóstico de roteador</a:t>
            </a:r>
          </a:p>
          <a:p>
            <a:pPr marL="342900" indent="-342900">
              <a:buFont typeface="+mj-lt"/>
              <a:buAutoNum type="arabicPeriod"/>
            </a:pPr>
            <a:r>
              <a:rPr lang="pt-BR" sz="1600" b="1" dirty="0">
                <a:latin typeface="Arial" panose="020B0604020202020204" pitchFamily="34" charset="0"/>
                <a:cs typeface="Arial" panose="020B0604020202020204" pitchFamily="34" charset="0"/>
              </a:rPr>
              <a:t>Camada de Transporte</a:t>
            </a:r>
            <a:br>
              <a:rPr lang="pt-BR" sz="1600" dirty="0">
                <a:latin typeface="Arial" panose="020B0604020202020204" pitchFamily="34" charset="0"/>
                <a:cs typeface="Arial" panose="020B0604020202020204" pitchFamily="34" charset="0"/>
              </a:rPr>
            </a:br>
            <a:r>
              <a:rPr lang="pt-BR" sz="1600" dirty="0">
                <a:solidFill>
                  <a:schemeClr val="accent2">
                    <a:lumMod val="40000"/>
                    <a:lumOff val="60000"/>
                  </a:schemeClr>
                </a:solidFill>
                <a:latin typeface="Arial" panose="020B0604020202020204" pitchFamily="34" charset="0"/>
                <a:cs typeface="Arial" panose="020B0604020202020204" pitchFamily="34" charset="0"/>
              </a:rPr>
              <a:t>netstat</a:t>
            </a:r>
            <a:r>
              <a:rPr lang="pt-BR" sz="1600" dirty="0">
                <a:solidFill>
                  <a:schemeClr val="accent5">
                    <a:lumMod val="40000"/>
                    <a:lumOff val="60000"/>
                  </a:schemeClr>
                </a:solidFill>
                <a:latin typeface="Arial" panose="020B0604020202020204" pitchFamily="34" charset="0"/>
                <a:cs typeface="Arial" panose="020B0604020202020204" pitchFamily="34" charset="0"/>
              </a:rPr>
              <a:t>, scanners de porta</a:t>
            </a:r>
          </a:p>
          <a:p>
            <a:pPr marL="342900" indent="-342900">
              <a:buFont typeface="+mj-lt"/>
              <a:buAutoNum type="arabicPeriod"/>
            </a:pPr>
            <a:r>
              <a:rPr lang="pt-BR" sz="1600" b="1" dirty="0">
                <a:latin typeface="Arial" panose="020B0604020202020204" pitchFamily="34" charset="0"/>
                <a:cs typeface="Arial" panose="020B0604020202020204" pitchFamily="34" charset="0"/>
              </a:rPr>
              <a:t>Camada de Aplicação</a:t>
            </a:r>
            <a:br>
              <a:rPr lang="pt-BR" sz="1600" dirty="0">
                <a:latin typeface="Arial" panose="020B0604020202020204" pitchFamily="34" charset="0"/>
                <a:cs typeface="Arial" panose="020B0604020202020204" pitchFamily="34" charset="0"/>
              </a:rPr>
            </a:br>
            <a:r>
              <a:rPr lang="pt-BR" sz="1600" dirty="0">
                <a:solidFill>
                  <a:schemeClr val="accent2">
                    <a:lumMod val="40000"/>
                    <a:lumOff val="60000"/>
                  </a:schemeClr>
                </a:solidFill>
                <a:latin typeface="Arial" panose="020B0604020202020204" pitchFamily="34" charset="0"/>
                <a:cs typeface="Arial" panose="020B0604020202020204" pitchFamily="34" charset="0"/>
              </a:rPr>
              <a:t>nslookup/dig</a:t>
            </a:r>
            <a:r>
              <a:rPr lang="pt-BR" sz="1600" dirty="0">
                <a:solidFill>
                  <a:schemeClr val="accent5">
                    <a:lumMod val="40000"/>
                    <a:lumOff val="60000"/>
                  </a:schemeClr>
                </a:solidFill>
                <a:latin typeface="Arial" panose="020B0604020202020204" pitchFamily="34" charset="0"/>
                <a:cs typeface="Arial" panose="020B0604020202020204" pitchFamily="34" charset="0"/>
              </a:rPr>
              <a:t>, logs de aplicação</a:t>
            </a:r>
          </a:p>
        </p:txBody>
      </p:sp>
      <p:pic>
        <p:nvPicPr>
          <p:cNvPr id="7" name="Content Placeholder 6">
            <a:extLst>
              <a:ext uri="{FF2B5EF4-FFF2-40B4-BE49-F238E27FC236}">
                <a16:creationId xmlns:a16="http://schemas.microsoft.com/office/drawing/2014/main" id="{77E34492-9137-80B2-C71F-11A2094F5A3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75740" y="2088000"/>
            <a:ext cx="4356783" cy="4351338"/>
          </a:xfrm>
          <a:prstGeom prst="roundRect">
            <a:avLst>
              <a:gd name="adj" fmla="val 3341"/>
            </a:avLst>
          </a:prstGeom>
          <a:solidFill>
            <a:schemeClr val="tx2">
              <a:lumMod val="10000"/>
            </a:schemeClr>
          </a:solidFill>
          <a:ln>
            <a:noFill/>
          </a:ln>
          <a:effectLst>
            <a:outerShdw blurRad="50800" dist="63500" dir="2700000" algn="tl"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196003266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F914C-745A-E019-3FD6-9E6967BEDF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01F392-D765-3266-3FE9-376611B8C452}"/>
              </a:ext>
            </a:extLst>
          </p:cNvPr>
          <p:cNvSpPr>
            <a:spLocks noGrp="1"/>
          </p:cNvSpPr>
          <p:nvPr>
            <p:ph type="title"/>
          </p:nvPr>
        </p:nvSpPr>
        <p:spPr>
          <a:xfrm>
            <a:off x="0" y="365125"/>
            <a:ext cx="12192000" cy="1325563"/>
          </a:xfrm>
          <a:solidFill>
            <a:schemeClr val="tx2">
              <a:lumMod val="10000"/>
            </a:schemeClr>
          </a:solidFill>
          <a:effectLst>
            <a:outerShdw blurRad="50800" dist="63500" dir="2700000" algn="tl" rotWithShape="0">
              <a:prstClr val="black">
                <a:alpha val="40000"/>
              </a:prstClr>
            </a:outerShdw>
          </a:effectLst>
        </p:spPr>
        <p:txBody>
          <a:bodyPr>
            <a:normAutofit/>
          </a:bodyPr>
          <a:lstStyle/>
          <a:p>
            <a:pPr algn="ctr"/>
            <a:r>
              <a:rPr lang="pt-BR" sz="3200" b="1" dirty="0">
                <a:latin typeface="Arial" panose="020B0604020202020204" pitchFamily="34" charset="0"/>
                <a:cs typeface="Arial" panose="020B0604020202020204" pitchFamily="34" charset="0"/>
              </a:rPr>
              <a:t>Abordagem de Resolução de Problemas do Modelo OSI</a:t>
            </a:r>
          </a:p>
        </p:txBody>
      </p:sp>
      <p:sp>
        <p:nvSpPr>
          <p:cNvPr id="4" name="Espaço Reservado para Conteúdo 3">
            <a:extLst>
              <a:ext uri="{FF2B5EF4-FFF2-40B4-BE49-F238E27FC236}">
                <a16:creationId xmlns:a16="http://schemas.microsoft.com/office/drawing/2014/main" id="{55147361-B26D-EEF1-24AF-AF9D28DEAC82}"/>
              </a:ext>
            </a:extLst>
          </p:cNvPr>
          <p:cNvSpPr>
            <a:spLocks noGrp="1"/>
          </p:cNvSpPr>
          <p:nvPr>
            <p:ph sz="half" idx="2"/>
          </p:nvPr>
        </p:nvSpPr>
        <p:spPr>
          <a:xfrm>
            <a:off x="3505200" y="2088000"/>
            <a:ext cx="5181600" cy="3124080"/>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a:normAutofit lnSpcReduction="10000"/>
          </a:bodyPr>
          <a:lstStyle/>
          <a:p>
            <a:pPr marL="0" indent="0" algn="ctr">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Aplicação Prática</a:t>
            </a:r>
          </a:p>
          <a:p>
            <a:r>
              <a:rPr lang="pt-BR" sz="1600" dirty="0">
                <a:latin typeface="Arial" panose="020B0604020202020204" pitchFamily="34" charset="0"/>
                <a:cs typeface="Arial" panose="020B0604020202020204" pitchFamily="34" charset="0"/>
              </a:rPr>
              <a:t>Comece pelas conexões físicas (cabos, portas)</a:t>
            </a:r>
          </a:p>
          <a:p>
            <a:r>
              <a:rPr lang="pt-BR" sz="1600" dirty="0">
                <a:latin typeface="Arial" panose="020B0604020202020204" pitchFamily="34" charset="0"/>
                <a:cs typeface="Arial" panose="020B0604020202020204" pitchFamily="34" charset="0"/>
              </a:rPr>
              <a:t>Verifique o status do link e o endereçamento MAC</a:t>
            </a:r>
          </a:p>
          <a:p>
            <a:r>
              <a:rPr lang="pt-BR" sz="1600" dirty="0">
                <a:latin typeface="Arial" panose="020B0604020202020204" pitchFamily="34" charset="0"/>
                <a:cs typeface="Arial" panose="020B0604020202020204" pitchFamily="34" charset="0"/>
              </a:rPr>
              <a:t>Verifique a configuração IP e o roteamento</a:t>
            </a:r>
          </a:p>
          <a:p>
            <a:r>
              <a:rPr lang="pt-BR" sz="1600" dirty="0">
                <a:latin typeface="Arial" panose="020B0604020202020204" pitchFamily="34" charset="0"/>
                <a:cs typeface="Arial" panose="020B0604020202020204" pitchFamily="34" charset="0"/>
              </a:rPr>
              <a:t>Teste a disponibilidade das portas TCP/UDP</a:t>
            </a:r>
          </a:p>
          <a:p>
            <a:r>
              <a:rPr lang="pt-BR" sz="1600" dirty="0">
                <a:latin typeface="Arial" panose="020B0604020202020204" pitchFamily="34" charset="0"/>
                <a:cs typeface="Arial" panose="020B0604020202020204" pitchFamily="34" charset="0"/>
              </a:rPr>
              <a:t>Examine problemas específicos da aplicação</a:t>
            </a:r>
          </a:p>
          <a:p>
            <a:r>
              <a:rPr lang="pt-BR" sz="1600" dirty="0">
                <a:latin typeface="Arial" panose="020B0604020202020204" pitchFamily="34" charset="0"/>
                <a:cs typeface="Arial" panose="020B0604020202020204" pitchFamily="34" charset="0"/>
              </a:rPr>
              <a:t>Documente as descobertas em cada camada</a:t>
            </a:r>
          </a:p>
          <a:p>
            <a:r>
              <a:rPr lang="pt-BR" sz="1600" dirty="0">
                <a:latin typeface="Arial" panose="020B0604020202020204" pitchFamily="34" charset="0"/>
                <a:cs typeface="Arial" panose="020B0604020202020204" pitchFamily="34" charset="0"/>
              </a:rPr>
              <a:t>Isolar o problema para uma camada específica</a:t>
            </a:r>
          </a:p>
        </p:txBody>
      </p:sp>
    </p:spTree>
    <p:extLst>
      <p:ext uri="{BB962C8B-B14F-4D97-AF65-F5344CB8AC3E}">
        <p14:creationId xmlns:p14="http://schemas.microsoft.com/office/powerpoint/2010/main" val="17944504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500"/>
                                        <p:tgtEl>
                                          <p:spTgt spid="4">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500"/>
                                        <p:tgtEl>
                                          <p:spTgt spid="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animEffect transition="in" filter="fade">
                                      <p:cBhvr>
                                        <p:cTn id="30" dur="500"/>
                                        <p:tgtEl>
                                          <p:spTgt spid="4">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500"/>
                                        <p:tgtEl>
                                          <p:spTgt spid="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500"/>
                                        <p:tgtEl>
                                          <p:spTgt spid="4">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animEffect transition="in" filter="fade">
                                      <p:cBhvr>
                                        <p:cTn id="4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09C7-15BB-39E4-CB83-7ECFAA0B2DDE}"/>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F7F3733D-CBE3-BF27-A37A-9A81130E7C05}"/>
              </a:ext>
            </a:extLst>
          </p:cNvPr>
          <p:cNvSpPr txBox="1">
            <a:spLocks/>
          </p:cNvSpPr>
          <p:nvPr/>
        </p:nvSpPr>
        <p:spPr>
          <a:xfrm>
            <a:off x="0" y="365125"/>
            <a:ext cx="12192000" cy="1325563"/>
          </a:xfrm>
          <a:prstGeom prst="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3200" b="1" dirty="0">
                <a:latin typeface="Arial" panose="020B0604020202020204" pitchFamily="34" charset="0"/>
                <a:cs typeface="Arial" panose="020B0604020202020204" pitchFamily="34" charset="0"/>
              </a:rPr>
              <a:t>Melhores Práticas para Resolução de Problemas de Rede</a:t>
            </a:r>
          </a:p>
        </p:txBody>
      </p:sp>
      <p:sp>
        <p:nvSpPr>
          <p:cNvPr id="9" name="Espaço Reservado para Conteúdo 2">
            <a:extLst>
              <a:ext uri="{FF2B5EF4-FFF2-40B4-BE49-F238E27FC236}">
                <a16:creationId xmlns:a16="http://schemas.microsoft.com/office/drawing/2014/main" id="{E51E36B9-C56C-D4C7-E316-291092FC276D}"/>
              </a:ext>
            </a:extLst>
          </p:cNvPr>
          <p:cNvSpPr txBox="1">
            <a:spLocks/>
          </p:cNvSpPr>
          <p:nvPr/>
        </p:nvSpPr>
        <p:spPr>
          <a:xfrm>
            <a:off x="944000" y="4083931"/>
            <a:ext cx="4680000" cy="153623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800" b="1" dirty="0">
                <a:latin typeface="Arial" panose="020B0604020202020204" pitchFamily="34" charset="0"/>
                <a:cs typeface="Arial" panose="020B0604020202020204" pitchFamily="34" charset="0"/>
              </a:rPr>
              <a:t>⚒️</a:t>
            </a:r>
            <a:r>
              <a:rPr lang="pt-BR" sz="1800" b="1" dirty="0">
                <a:latin typeface="Arial" panose="020B0604020202020204" pitchFamily="34" charset="0"/>
                <a:cs typeface="Arial" panose="020B0604020202020204" pitchFamily="34" charset="0"/>
              </a:rPr>
              <a:t> Domínio do Conjunto de Ferramentas</a:t>
            </a:r>
          </a:p>
          <a:p>
            <a:pPr marL="0" indent="0">
              <a:buNone/>
            </a:pPr>
            <a:r>
              <a:rPr lang="pt-BR" sz="1600" dirty="0">
                <a:latin typeface="Arial" panose="020B0604020202020204" pitchFamily="34" charset="0"/>
                <a:cs typeface="Arial" panose="020B0604020202020204" pitchFamily="34" charset="0"/>
              </a:rPr>
              <a:t>Desenvolver proficiência no uso de ferramentas de diagnóstico e compreender quando utilizar cada uma delas adequadamente.</a:t>
            </a:r>
          </a:p>
        </p:txBody>
      </p:sp>
      <p:sp>
        <p:nvSpPr>
          <p:cNvPr id="18" name="Espaço Reservado para Conteúdo 2">
            <a:extLst>
              <a:ext uri="{FF2B5EF4-FFF2-40B4-BE49-F238E27FC236}">
                <a16:creationId xmlns:a16="http://schemas.microsoft.com/office/drawing/2014/main" id="{CFFA234A-B0C2-EE11-40F5-03074649EA1F}"/>
              </a:ext>
            </a:extLst>
          </p:cNvPr>
          <p:cNvSpPr txBox="1">
            <a:spLocks/>
          </p:cNvSpPr>
          <p:nvPr/>
        </p:nvSpPr>
        <p:spPr>
          <a:xfrm>
            <a:off x="944000" y="2088000"/>
            <a:ext cx="4680000" cy="153623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latin typeface="Arial" panose="020B0604020202020204" pitchFamily="34" charset="0"/>
                <a:cs typeface="Arial" panose="020B0604020202020204" pitchFamily="34" charset="0"/>
              </a:rPr>
              <a:t>📝 Documentação</a:t>
            </a:r>
          </a:p>
          <a:p>
            <a:pPr marL="0" indent="0">
              <a:buNone/>
            </a:pPr>
            <a:r>
              <a:rPr lang="pt-BR" sz="1600" dirty="0">
                <a:latin typeface="Arial" panose="020B0604020202020204" pitchFamily="34" charset="0"/>
                <a:cs typeface="Arial" panose="020B0604020202020204" pitchFamily="34" charset="0"/>
              </a:rPr>
              <a:t>Mantenha diagramas de rede detalhados, configurações e registros de alterações. Documente todas as etapas de solução de problemas e suas respectivas resoluções.</a:t>
            </a:r>
          </a:p>
        </p:txBody>
      </p:sp>
      <p:sp>
        <p:nvSpPr>
          <p:cNvPr id="10" name="Espaço Reservado para Conteúdo 2">
            <a:extLst>
              <a:ext uri="{FF2B5EF4-FFF2-40B4-BE49-F238E27FC236}">
                <a16:creationId xmlns:a16="http://schemas.microsoft.com/office/drawing/2014/main" id="{066B81EB-F9D8-7068-0921-551CA7FF9B30}"/>
              </a:ext>
            </a:extLst>
          </p:cNvPr>
          <p:cNvSpPr txBox="1">
            <a:spLocks/>
          </p:cNvSpPr>
          <p:nvPr/>
        </p:nvSpPr>
        <p:spPr>
          <a:xfrm>
            <a:off x="6568000" y="4083931"/>
            <a:ext cx="4680000" cy="153623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latin typeface="Arial" panose="020B0604020202020204" pitchFamily="34" charset="0"/>
                <a:cs typeface="Arial" panose="020B0604020202020204" pitchFamily="34" charset="0"/>
              </a:rPr>
              <a:t>📶 Abordagem Sistemática</a:t>
            </a:r>
          </a:p>
          <a:p>
            <a:pPr marL="0" indent="0">
              <a:buNone/>
            </a:pPr>
            <a:r>
              <a:rPr lang="pt-BR" sz="1600" dirty="0">
                <a:latin typeface="Arial" panose="020B0604020202020204" pitchFamily="34" charset="0"/>
                <a:cs typeface="Arial" panose="020B0604020202020204" pitchFamily="34" charset="0"/>
              </a:rPr>
              <a:t>Siga uma metodologia consistente em vez de realizar soluções de problemas aleatoriamente para isolar e resolver problemas de forma eficiente.</a:t>
            </a:r>
          </a:p>
        </p:txBody>
      </p:sp>
      <p:sp>
        <p:nvSpPr>
          <p:cNvPr id="19" name="Espaço Reservado para Conteúdo 2">
            <a:extLst>
              <a:ext uri="{FF2B5EF4-FFF2-40B4-BE49-F238E27FC236}">
                <a16:creationId xmlns:a16="http://schemas.microsoft.com/office/drawing/2014/main" id="{5DE34D34-5DB4-69D3-CC52-A483C91CF1EB}"/>
              </a:ext>
            </a:extLst>
          </p:cNvPr>
          <p:cNvSpPr txBox="1">
            <a:spLocks/>
          </p:cNvSpPr>
          <p:nvPr/>
        </p:nvSpPr>
        <p:spPr>
          <a:xfrm>
            <a:off x="6568000" y="2088000"/>
            <a:ext cx="4680000" cy="1536239"/>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t-BR" sz="1800" b="1" dirty="0">
                <a:latin typeface="Arial" panose="020B0604020202020204" pitchFamily="34" charset="0"/>
                <a:cs typeface="Arial" panose="020B0604020202020204" pitchFamily="34" charset="0"/>
              </a:rPr>
              <a:t>📈 Performance Base</a:t>
            </a:r>
          </a:p>
          <a:p>
            <a:pPr marL="0" indent="0">
              <a:buNone/>
            </a:pPr>
            <a:r>
              <a:rPr lang="pt-BR" sz="1600" dirty="0">
                <a:latin typeface="Arial" panose="020B0604020202020204" pitchFamily="34" charset="0"/>
                <a:cs typeface="Arial" panose="020B0604020202020204" pitchFamily="34" charset="0"/>
              </a:rPr>
              <a:t>Estabeleça métricas de comportamento normal da rede para identificar rapidamente desvios e padrões anormais.</a:t>
            </a:r>
          </a:p>
        </p:txBody>
      </p:sp>
      <p:sp>
        <p:nvSpPr>
          <p:cNvPr id="4" name="CaixaDeTexto 3">
            <a:extLst>
              <a:ext uri="{FF2B5EF4-FFF2-40B4-BE49-F238E27FC236}">
                <a16:creationId xmlns:a16="http://schemas.microsoft.com/office/drawing/2014/main" id="{584964EE-6B83-1369-4A74-1C404748827D}"/>
              </a:ext>
            </a:extLst>
          </p:cNvPr>
          <p:cNvSpPr txBox="1"/>
          <p:nvPr/>
        </p:nvSpPr>
        <p:spPr>
          <a:xfrm>
            <a:off x="2182830" y="6079861"/>
            <a:ext cx="7826341" cy="646986"/>
          </a:xfrm>
          <a:prstGeom prst="roundRect">
            <a:avLst/>
          </a:prstGeom>
          <a:solidFill>
            <a:schemeClr val="tx2">
              <a:lumMod val="10000"/>
            </a:schemeClr>
          </a:solidFill>
          <a:effectLst>
            <a:outerShdw blurRad="50800" dist="63500" dir="2700000" algn="tl" rotWithShape="0">
              <a:prstClr val="black">
                <a:alpha val="40000"/>
              </a:prstClr>
            </a:outerShdw>
          </a:effectLst>
        </p:spPr>
        <p:txBody>
          <a:bodyPr wrap="square" rtlCol="0">
            <a:spAutoFit/>
          </a:bodyPr>
          <a:lstStyle/>
          <a:p>
            <a:pPr algn="ctr"/>
            <a:r>
              <a:rPr lang="pt-BR" sz="1600" dirty="0">
                <a:latin typeface="Arial" panose="020B0604020202020204" pitchFamily="34" charset="0"/>
                <a:cs typeface="Arial" panose="020B0604020202020204" pitchFamily="34" charset="0"/>
              </a:rPr>
              <a:t>A resolução eficaz de problemas de rede combina conhecimento técnico, metodologia sistemática e as ferramentas de diagnóstico adequadas.</a:t>
            </a:r>
          </a:p>
        </p:txBody>
      </p:sp>
    </p:spTree>
    <p:extLst>
      <p:ext uri="{BB962C8B-B14F-4D97-AF65-F5344CB8AC3E}">
        <p14:creationId xmlns:p14="http://schemas.microsoft.com/office/powerpoint/2010/main" val="415205557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bg/>
                                          </p:spTgt>
                                        </p:tgtEl>
                                        <p:attrNameLst>
                                          <p:attrName>style.visibility</p:attrName>
                                        </p:attrNameLst>
                                      </p:cBhvr>
                                      <p:to>
                                        <p:strVal val="visible"/>
                                      </p:to>
                                    </p:set>
                                    <p:animEffect transition="in" filter="fade">
                                      <p:cBhvr>
                                        <p:cTn id="27" dur="500"/>
                                        <p:tgtEl>
                                          <p:spTgt spid="4">
                                            <p:bg/>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Effect transition="in" filter="fade">
                                      <p:cBhvr>
                                        <p:cTn id="3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8" grpId="0" animBg="1"/>
      <p:bldP spid="10" grpId="0" animBg="1"/>
      <p:bldP spid="19" grpId="0" animBg="1"/>
      <p:bldP spid="4" grpId="0" build="allAtOnce"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B29FB-FA43-7118-D848-233DE585A48B}"/>
              </a:ext>
            </a:extLst>
          </p:cNvPr>
          <p:cNvSpPr>
            <a:spLocks noGrp="1"/>
          </p:cNvSpPr>
          <p:nvPr>
            <p:ph type="title"/>
          </p:nvPr>
        </p:nvSpPr>
        <p:spPr>
          <a:xfrm>
            <a:off x="0" y="2002632"/>
            <a:ext cx="12192000" cy="2852737"/>
          </a:xfrm>
          <a:solidFill>
            <a:schemeClr val="tx2">
              <a:lumMod val="10000"/>
            </a:schemeClr>
          </a:solidFill>
          <a:effectLst>
            <a:outerShdw blurRad="50800" dist="63500" dir="2700000" algn="tl" rotWithShape="0">
              <a:prstClr val="black">
                <a:alpha val="40000"/>
              </a:prstClr>
            </a:outerShdw>
          </a:effectLst>
        </p:spPr>
        <p:txBody>
          <a:bodyPr anchor="ctr"/>
          <a:lstStyle/>
          <a:p>
            <a:pPr algn="ctr"/>
            <a:r>
              <a:rPr lang="en-GB" b="1" dirty="0" err="1">
                <a:latin typeface="Arial" panose="020B0604020202020204" pitchFamily="34" charset="0"/>
                <a:cs typeface="Arial" panose="020B0604020202020204" pitchFamily="34" charset="0"/>
              </a:rPr>
              <a:t>Dúvidas</a:t>
            </a:r>
            <a:r>
              <a:rPr lang="en-GB" b="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249408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3|1.3|1.1|1|1|1|1|0.9|1|0.9|0.9|1|1"/>
</p:tagLst>
</file>

<file path=ppt/tags/tag2.xml><?xml version="1.0" encoding="utf-8"?>
<p:tagLst xmlns:a="http://schemas.openxmlformats.org/drawingml/2006/main" xmlns:r="http://schemas.openxmlformats.org/officeDocument/2006/relationships" xmlns:p="http://schemas.openxmlformats.org/presentationml/2006/main">
  <p:tag name="TIMING" val="|0.9"/>
</p:tagLst>
</file>

<file path=ppt/theme/theme1.xml><?xml version="1.0" encoding="utf-8"?>
<a:theme xmlns:a="http://schemas.openxmlformats.org/drawingml/2006/main" name="Office Them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886</TotalTime>
  <Words>1292</Words>
  <Application>Microsoft Office PowerPoint</Application>
  <PresentationFormat>Widescreen</PresentationFormat>
  <Paragraphs>189</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Cascadia Code</vt:lpstr>
      <vt:lpstr>Cascadia Code SemiLight</vt:lpstr>
      <vt:lpstr>Office Theme</vt:lpstr>
      <vt:lpstr>Ferramentas de Rede do Sistema Operacional Ferramentas de Diagnóstico de Rede</vt:lpstr>
      <vt:lpstr>Problemas comuns de Rede</vt:lpstr>
      <vt:lpstr>Ferramentas Essenciais para Diagnóstico</vt:lpstr>
      <vt:lpstr>Usando Ping para Diagnosticar a Rede</vt:lpstr>
      <vt:lpstr>Usando Traceroute/Tracert para Análise de Rota</vt:lpstr>
      <vt:lpstr>Ferramentas de Resolução de Problemas de DNS</vt:lpstr>
      <vt:lpstr>Usando netstat para monitorar a Rede</vt:lpstr>
      <vt:lpstr>Ferramenta de Configuração de Rede</vt:lpstr>
      <vt:lpstr>Análise de pacotes com Wireshark</vt:lpstr>
      <vt:lpstr>Análise de pacotes com Wireshark</vt:lpstr>
      <vt:lpstr>Metodologia Sistemática de Resolução de Problemas</vt:lpstr>
      <vt:lpstr>Abordagem de Resolução de Problemas do Modelo OSI</vt:lpstr>
      <vt:lpstr>Abordagem de Resolução de Problemas do Modelo OSI</vt:lpstr>
      <vt:lpstr>PowerPoint Presentation</vt:lpstr>
      <vt:lpstr>Dúvidas?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Cristiano Silva</dc:creator>
  <cp:lastModifiedBy>Ayuka Henrique da Silva</cp:lastModifiedBy>
  <cp:revision>18</cp:revision>
  <dcterms:created xsi:type="dcterms:W3CDTF">2026-03-22T03:09:47Z</dcterms:created>
  <dcterms:modified xsi:type="dcterms:W3CDTF">2026-04-15T14:56:03Z</dcterms:modified>
</cp:coreProperties>
</file>